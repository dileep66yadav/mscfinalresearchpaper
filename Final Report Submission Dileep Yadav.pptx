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1" r:id="rId1"/>
  </p:sldMasterIdLst>
  <p:notesMasterIdLst>
    <p:notesMasterId r:id="rId30"/>
  </p:notesMasterIdLst>
  <p:sldIdLst>
    <p:sldId id="256" r:id="rId2"/>
    <p:sldId id="291" r:id="rId3"/>
    <p:sldId id="293" r:id="rId4"/>
    <p:sldId id="260" r:id="rId5"/>
    <p:sldId id="292" r:id="rId6"/>
    <p:sldId id="261" r:id="rId7"/>
    <p:sldId id="262" r:id="rId8"/>
    <p:sldId id="267" r:id="rId9"/>
    <p:sldId id="268" r:id="rId10"/>
    <p:sldId id="269" r:id="rId11"/>
    <p:sldId id="270" r:id="rId12"/>
    <p:sldId id="271" r:id="rId13"/>
    <p:sldId id="263" r:id="rId14"/>
    <p:sldId id="264" r:id="rId15"/>
    <p:sldId id="265" r:id="rId16"/>
    <p:sldId id="266" r:id="rId17"/>
    <p:sldId id="288" r:id="rId18"/>
    <p:sldId id="276" r:id="rId19"/>
    <p:sldId id="272" r:id="rId20"/>
    <p:sldId id="273" r:id="rId21"/>
    <p:sldId id="274" r:id="rId22"/>
    <p:sldId id="275" r:id="rId23"/>
    <p:sldId id="289" r:id="rId24"/>
    <p:sldId id="278" r:id="rId25"/>
    <p:sldId id="279" r:id="rId26"/>
    <p:sldId id="280" r:id="rId27"/>
    <p:sldId id="281" r:id="rId28"/>
    <p:sldId id="290"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2"/>
    <p:restoredTop sz="92705" autoAdjust="0"/>
  </p:normalViewPr>
  <p:slideViewPr>
    <p:cSldViewPr snapToGrid="0" showGuides="1">
      <p:cViewPr>
        <p:scale>
          <a:sx n="70" d="100"/>
          <a:sy n="70" d="100"/>
        </p:scale>
        <p:origin x="-720" y="-72"/>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FD25CA-F32C-4238-A323-3061BAA23D37}" type="datetimeFigureOut">
              <a:rPr lang="en-GB" smtClean="0"/>
              <a:t>17/02/2021</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E72C4F-29B1-4A6D-BC7F-D3A519CC7154}" type="slidenum">
              <a:rPr lang="en-GB" smtClean="0"/>
              <a:t>‹#›</a:t>
            </a:fld>
            <a:endParaRPr lang="en-GB"/>
          </a:p>
        </p:txBody>
      </p:sp>
    </p:spTree>
    <p:extLst>
      <p:ext uri="{BB962C8B-B14F-4D97-AF65-F5344CB8AC3E}">
        <p14:creationId xmlns:p14="http://schemas.microsoft.com/office/powerpoint/2010/main" val="3732458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kafka.apache.org/documentation.html#producerapi"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kafka.apache.org/documentation.html#connect" TargetMode="External"/><Relationship Id="rId5" Type="http://schemas.openxmlformats.org/officeDocument/2006/relationships/hyperlink" Target="https://kafka.apache.org/documentation/streams" TargetMode="External"/><Relationship Id="rId4" Type="http://schemas.openxmlformats.org/officeDocument/2006/relationships/hyperlink" Target="https://kafka.apache.org/documentation.html#consumerapi"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Publish and subscribe to streams of records, similar to a message queue or enterprise messaging system. </a:t>
            </a:r>
            <a:endParaRPr lang="tr-TR"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Store streams of records in a fault-tolerant durable way.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Process streams of records as they occur.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8AE72C4F-29B1-4A6D-BC7F-D3A519CC7154}" type="slidenum">
              <a:rPr lang="en-GB" smtClean="0"/>
              <a:t>2</a:t>
            </a:fld>
            <a:endParaRPr lang="en-GB"/>
          </a:p>
        </p:txBody>
      </p:sp>
    </p:spTree>
    <p:extLst>
      <p:ext uri="{BB962C8B-B14F-4D97-AF65-F5344CB8AC3E}">
        <p14:creationId xmlns:p14="http://schemas.microsoft.com/office/powerpoint/2010/main" val="2860726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ffectLst/>
              </a:rPr>
              <a:t>The </a:t>
            </a:r>
            <a:r>
              <a:rPr lang="en-GB" dirty="0">
                <a:effectLst/>
                <a:hlinkClick r:id="rId3"/>
              </a:rPr>
              <a:t>Producer API</a:t>
            </a:r>
            <a:r>
              <a:rPr lang="en-GB" dirty="0">
                <a:effectLst/>
              </a:rPr>
              <a:t> allows an application to publish a stream of records to one or more Kafka topics. </a:t>
            </a:r>
          </a:p>
          <a:p>
            <a:r>
              <a:rPr lang="en-GB" dirty="0">
                <a:effectLst/>
              </a:rPr>
              <a:t>The </a:t>
            </a:r>
            <a:r>
              <a:rPr lang="en-GB" dirty="0">
                <a:effectLst/>
                <a:hlinkClick r:id="rId4"/>
              </a:rPr>
              <a:t>Consumer API</a:t>
            </a:r>
            <a:r>
              <a:rPr lang="en-GB" dirty="0">
                <a:effectLst/>
              </a:rPr>
              <a:t> allows an application to subscribe to one or more topics and process the stream of records produced to them. </a:t>
            </a:r>
          </a:p>
          <a:p>
            <a:r>
              <a:rPr lang="en-GB" dirty="0">
                <a:effectLst/>
              </a:rPr>
              <a:t>The </a:t>
            </a:r>
            <a:r>
              <a:rPr lang="en-GB" dirty="0">
                <a:effectLst/>
                <a:hlinkClick r:id="rId5"/>
              </a:rPr>
              <a:t>Streams API</a:t>
            </a:r>
            <a:r>
              <a:rPr lang="en-GB" dirty="0">
                <a:effectLst/>
              </a:rPr>
              <a:t> allows an application to act as a </a:t>
            </a:r>
            <a:r>
              <a:rPr lang="en-GB" i="1" dirty="0">
                <a:effectLst/>
              </a:rPr>
              <a:t>stream processor</a:t>
            </a:r>
            <a:r>
              <a:rPr lang="en-GB" dirty="0">
                <a:effectLst/>
              </a:rPr>
              <a:t>, consuming an input stream from one or more topics and producing an output stream to one or more output topics, effectively transforming the input streams to output streams. </a:t>
            </a:r>
          </a:p>
          <a:p>
            <a:r>
              <a:rPr lang="en-GB" dirty="0">
                <a:effectLst/>
              </a:rPr>
              <a:t>The </a:t>
            </a:r>
            <a:r>
              <a:rPr lang="en-GB" dirty="0">
                <a:effectLst/>
                <a:hlinkClick r:id="rId6"/>
              </a:rPr>
              <a:t>Connector API</a:t>
            </a:r>
            <a:r>
              <a:rPr lang="en-GB" dirty="0">
                <a:effectLst/>
              </a:rPr>
              <a:t> allows building and running reusable producers or consumers that connect Kafka topics to existing applications or data systems. For example, a connector to a relational database might capture every change to a table. </a:t>
            </a:r>
          </a:p>
          <a:p>
            <a:endParaRPr lang="en-GB" dirty="0"/>
          </a:p>
        </p:txBody>
      </p:sp>
      <p:sp>
        <p:nvSpPr>
          <p:cNvPr id="4" name="Slide Number Placeholder 3"/>
          <p:cNvSpPr>
            <a:spLocks noGrp="1"/>
          </p:cNvSpPr>
          <p:nvPr>
            <p:ph type="sldNum" sz="quarter" idx="5"/>
          </p:nvPr>
        </p:nvSpPr>
        <p:spPr/>
        <p:txBody>
          <a:bodyPr/>
          <a:lstStyle/>
          <a:p>
            <a:fld id="{8AE72C4F-29B1-4A6D-BC7F-D3A519CC7154}" type="slidenum">
              <a:rPr lang="en-GB" smtClean="0"/>
              <a:t>3</a:t>
            </a:fld>
            <a:endParaRPr lang="en-GB"/>
          </a:p>
        </p:txBody>
      </p:sp>
    </p:spTree>
    <p:extLst>
      <p:ext uri="{BB962C8B-B14F-4D97-AF65-F5344CB8AC3E}">
        <p14:creationId xmlns:p14="http://schemas.microsoft.com/office/powerpoint/2010/main" val="597171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AE72C4F-29B1-4A6D-BC7F-D3A519CC7154}" type="slidenum">
              <a:rPr lang="en-GB" smtClean="0"/>
              <a:t>18</a:t>
            </a:fld>
            <a:endParaRPr lang="en-GB"/>
          </a:p>
        </p:txBody>
      </p:sp>
    </p:spTree>
    <p:extLst>
      <p:ext uri="{BB962C8B-B14F-4D97-AF65-F5344CB8AC3E}">
        <p14:creationId xmlns:p14="http://schemas.microsoft.com/office/powerpoint/2010/main" val="28314898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479BA6C0-232C-44CE-9ACD-19CE90F709CC}" type="datetimeFigureOut">
              <a:rPr lang="en-US" smtClean="0"/>
              <a:t>2/17/2021</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1083EF28-A814-49A2-9DDA-B133350D537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79BA6C0-232C-44CE-9ACD-19CE90F709CC}" type="datetimeFigureOut">
              <a:rPr lang="en-US" smtClean="0"/>
              <a:t>2/17/2021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083EF28-A814-49A2-9DDA-B133350D5370}"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479BA6C0-232C-44CE-9ACD-19CE90F709CC}" type="datetimeFigureOut">
              <a:rPr lang="en-US" smtClean="0"/>
              <a:t>2/17/2021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083EF28-A814-49A2-9DDA-B133350D5370}" type="slidenum">
              <a:rPr lang="en-US" smtClean="0"/>
              <a:t>‹#›</a:t>
            </a:fld>
            <a:endParaRPr lang="en-US"/>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479BA6C0-232C-44CE-9ACD-19CE90F709CC}" type="datetimeFigureOut">
              <a:rPr lang="en-US" smtClean="0"/>
              <a:t>2/17/2021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1083EF28-A814-49A2-9DDA-B133350D5370}"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479BA6C0-232C-44CE-9ACD-19CE90F709CC}" type="datetimeFigureOut">
              <a:rPr lang="en-US" smtClean="0"/>
              <a:t>2/17/2021</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1083EF28-A814-49A2-9DDA-B133350D5370}"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479BA6C0-232C-44CE-9ACD-19CE90F709CC}" type="datetimeFigureOut">
              <a:rPr lang="en-US" smtClean="0"/>
              <a:t>2/17/2021</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1083EF28-A814-49A2-9DDA-B133350D5370}"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479BA6C0-232C-44CE-9ACD-19CE90F709CC}" type="datetimeFigureOut">
              <a:rPr lang="en-US" smtClean="0"/>
              <a:t>2/17/2021</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1083EF28-A814-49A2-9DDA-B133350D537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extLst/>
          </a:lstStyle>
          <a:p>
            <a:fld id="{479BA6C0-232C-44CE-9ACD-19CE90F709CC}" type="datetimeFigureOut">
              <a:rPr lang="en-US" smtClean="0"/>
              <a:t>2/17/2021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1083EF28-A814-49A2-9DDA-B133350D5370}"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479BA6C0-232C-44CE-9ACD-19CE90F709CC}" type="datetimeFigureOut">
              <a:rPr lang="en-US" smtClean="0"/>
              <a:t>2/17/2021</a:t>
            </a:fld>
            <a:endParaRPr lang="en-US"/>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1083EF28-A814-49A2-9DDA-B133350D5370}" type="slidenum">
              <a:rPr lang="en-US" smtClean="0"/>
              <a:t>‹#›</a:t>
            </a:fld>
            <a:endParaRPr lang="en-US"/>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8056" y="5791253"/>
            <a:ext cx="4536419"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1481330"/>
            <a:ext cx="109728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79BA6C0-232C-44CE-9ACD-19CE90F709CC}" type="datetimeFigureOut">
              <a:rPr lang="en-US" smtClean="0"/>
              <a:t>2/17/2021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083EF28-A814-49A2-9DDA-B133350D537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41"/>
            <a:ext cx="84328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79BA6C0-232C-44CE-9ACD-19CE90F709CC}" type="datetimeFigureOut">
              <a:rPr lang="en-US" smtClean="0"/>
              <a:t>2/17/2021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083EF28-A814-49A2-9DDA-B133350D537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479BA6C0-232C-44CE-9ACD-19CE90F709CC}" type="datetimeFigureOut">
              <a:rPr lang="en-US" smtClean="0"/>
              <a:t>2/17/2021</a:t>
            </a:fld>
            <a:endParaRPr lang="en-US"/>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1083EF28-A814-49A2-9DDA-B133350D537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4062" r:id="rId1"/>
    <p:sldLayoutId id="2147484063" r:id="rId2"/>
    <p:sldLayoutId id="2147484064" r:id="rId3"/>
    <p:sldLayoutId id="2147484065" r:id="rId4"/>
    <p:sldLayoutId id="2147484066" r:id="rId5"/>
    <p:sldLayoutId id="2147484067" r:id="rId6"/>
    <p:sldLayoutId id="2147484068" r:id="rId7"/>
    <p:sldLayoutId id="2147484069" r:id="rId8"/>
    <p:sldLayoutId id="2147484070" r:id="rId9"/>
    <p:sldLayoutId id="2147484071" r:id="rId10"/>
    <p:sldLayoutId id="2147484072"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kafka.apache.org/documentation.html#producerapi" TargetMode="External"/><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kafka.apache.org/documentation.html#connect" TargetMode="External"/><Relationship Id="rId5" Type="http://schemas.openxmlformats.org/officeDocument/2006/relationships/hyperlink" Target="https://kafka.apache.org/documentation/streams" TargetMode="External"/><Relationship Id="rId4" Type="http://schemas.openxmlformats.org/officeDocument/2006/relationships/hyperlink" Target="https://kafka.apache.org/documentation.html#consumerapi"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FE6D566-EF0C-4C09-959E-D6E13CC96B72}"/>
              </a:ext>
            </a:extLst>
          </p:cNvPr>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783487" y="1720895"/>
            <a:ext cx="9286875" cy="2771775"/>
          </a:xfrm>
          <a:prstGeom prst="rect">
            <a:avLst/>
          </a:prstGeom>
        </p:spPr>
      </p:pic>
    </p:spTree>
    <p:extLst>
      <p:ext uri="{BB962C8B-B14F-4D97-AF65-F5344CB8AC3E}">
        <p14:creationId xmlns:p14="http://schemas.microsoft.com/office/powerpoint/2010/main" val="3857040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26B44C0-2ED0-4D90-91E3-EA91F0FD1324}"/>
              </a:ext>
            </a:extLst>
          </p:cNvPr>
          <p:cNvSpPr>
            <a:spLocks noGrp="1"/>
          </p:cNvSpPr>
          <p:nvPr>
            <p:ph idx="1"/>
          </p:nvPr>
        </p:nvSpPr>
        <p:spPr/>
        <p:txBody>
          <a:bodyPr>
            <a:normAutofit/>
          </a:bodyPr>
          <a:lstStyle/>
          <a:p>
            <a:pPr lvl="1">
              <a:buFont typeface="Wingdings" pitchFamily="2" charset="2"/>
              <a:buChar char="§"/>
            </a:pPr>
            <a:r>
              <a:rPr lang="en-US" sz="2400" dirty="0" smtClean="0">
                <a:latin typeface="Times New Roman" pitchFamily="18" charset="0"/>
                <a:cs typeface="Times New Roman" pitchFamily="18" charset="0"/>
              </a:rPr>
              <a:t>Apache </a:t>
            </a:r>
            <a:r>
              <a:rPr lang="en-US" sz="2400" dirty="0">
                <a:latin typeface="Times New Roman" pitchFamily="18" charset="0"/>
                <a:cs typeface="Times New Roman" pitchFamily="18" charset="0"/>
              </a:rPr>
              <a:t>Kafka is a distributed streaming platform:</a:t>
            </a:r>
          </a:p>
          <a:p>
            <a:pPr lvl="1">
              <a:buFont typeface="Wingdings" pitchFamily="2" charset="2"/>
              <a:buChar char="ü"/>
            </a:pPr>
            <a:r>
              <a:rPr lang="en-US" sz="2400" dirty="0" smtClean="0">
                <a:latin typeface="Times New Roman" pitchFamily="18" charset="0"/>
                <a:cs typeface="Times New Roman" pitchFamily="18" charset="0"/>
              </a:rPr>
              <a:t>  Send </a:t>
            </a:r>
            <a:r>
              <a:rPr lang="en-US" sz="2400" dirty="0">
                <a:latin typeface="Times New Roman" pitchFamily="18" charset="0"/>
                <a:cs typeface="Times New Roman" pitchFamily="18" charset="0"/>
              </a:rPr>
              <a:t>to and receive messages from recording </a:t>
            </a:r>
            <a:r>
              <a:rPr lang="en-US" sz="2400" dirty="0" smtClean="0">
                <a:latin typeface="Times New Roman" pitchFamily="18" charset="0"/>
                <a:cs typeface="Times New Roman" pitchFamily="18" charset="0"/>
              </a:rPr>
              <a:t>streams</a:t>
            </a:r>
          </a:p>
          <a:p>
            <a:pPr lvl="1">
              <a:buFont typeface="Wingdings" pitchFamily="2" charset="2"/>
              <a:buChar char="ü"/>
            </a:pPr>
            <a:r>
              <a:rPr lang="en-US" sz="2400" dirty="0" smtClean="0">
                <a:latin typeface="Times New Roman" pitchFamily="18" charset="0"/>
                <a:cs typeface="Times New Roman" pitchFamily="18" charset="0"/>
              </a:rPr>
              <a:t>  Recording </a:t>
            </a:r>
            <a:r>
              <a:rPr lang="en-US" sz="2400" dirty="0">
                <a:latin typeface="Times New Roman" pitchFamily="18" charset="0"/>
                <a:cs typeface="Times New Roman" pitchFamily="18" charset="0"/>
              </a:rPr>
              <a:t>streams </a:t>
            </a:r>
            <a:r>
              <a:rPr lang="en-US" sz="2400" dirty="0" smtClean="0">
                <a:latin typeface="Times New Roman" pitchFamily="18" charset="0"/>
                <a:cs typeface="Times New Roman" pitchFamily="18" charset="0"/>
              </a:rPr>
              <a:t>error-proof</a:t>
            </a:r>
          </a:p>
          <a:p>
            <a:pPr lvl="1">
              <a:buFont typeface="Wingdings" pitchFamily="2" charset="2"/>
              <a:buChar char="ü"/>
            </a:pPr>
            <a:r>
              <a:rPr lang="en-US" sz="2400" dirty="0" smtClean="0">
                <a:latin typeface="Times New Roman" pitchFamily="18" charset="0"/>
                <a:cs typeface="Times New Roman" pitchFamily="18" charset="0"/>
              </a:rPr>
              <a:t>  Real </a:t>
            </a:r>
            <a:r>
              <a:rPr lang="en-US" sz="2400" dirty="0">
                <a:latin typeface="Times New Roman" pitchFamily="18" charset="0"/>
                <a:cs typeface="Times New Roman" pitchFamily="18" charset="0"/>
              </a:rPr>
              <a:t>time processing on recording streams</a:t>
            </a:r>
            <a:endParaRPr lang="tr-TR" sz="2400" dirty="0">
              <a:latin typeface="Times New Roman" pitchFamily="18" charset="0"/>
              <a:cs typeface="Times New Roman" pitchFamily="18" charset="0"/>
            </a:endParaRPr>
          </a:p>
          <a:p>
            <a:endParaRPr lang="en-GB" dirty="0"/>
          </a:p>
        </p:txBody>
      </p:sp>
      <p:sp>
        <p:nvSpPr>
          <p:cNvPr id="2" name="Title 1">
            <a:extLst>
              <a:ext uri="{FF2B5EF4-FFF2-40B4-BE49-F238E27FC236}">
                <a16:creationId xmlns:a16="http://schemas.microsoft.com/office/drawing/2014/main" xmlns="" id="{1F552F60-7AD3-4555-B2D3-6D5475631C4A}"/>
              </a:ext>
            </a:extLst>
          </p:cNvPr>
          <p:cNvSpPr>
            <a:spLocks noGrp="1"/>
          </p:cNvSpPr>
          <p:nvPr>
            <p:ph type="title"/>
          </p:nvPr>
        </p:nvSpPr>
        <p:spPr/>
        <p:txBody>
          <a:bodyPr>
            <a:normAutofit fontScale="90000"/>
          </a:bodyPr>
          <a:lstStyle/>
          <a:p>
            <a:r>
              <a:rPr lang="en-GB" b="1" dirty="0"/>
              <a:t>Apache Kafka</a:t>
            </a:r>
            <a:br>
              <a:rPr lang="en-GB" b="1" dirty="0"/>
            </a:br>
            <a:endParaRPr lang="en-GB" dirty="0"/>
          </a:p>
        </p:txBody>
      </p:sp>
    </p:spTree>
    <p:extLst>
      <p:ext uri="{BB962C8B-B14F-4D97-AF65-F5344CB8AC3E}">
        <p14:creationId xmlns:p14="http://schemas.microsoft.com/office/powerpoint/2010/main" val="627916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2575032-20F3-4724-B98D-D4242502374D}"/>
              </a:ext>
            </a:extLst>
          </p:cNvPr>
          <p:cNvSpPr>
            <a:spLocks noGrp="1"/>
          </p:cNvSpPr>
          <p:nvPr>
            <p:ph idx="1"/>
          </p:nvPr>
        </p:nvSpPr>
        <p:spPr>
          <a:xfrm>
            <a:off x="1141412" y="2249487"/>
            <a:ext cx="3848599" cy="3541714"/>
          </a:xfrm>
        </p:spPr>
        <p:txBody>
          <a:bodyPr>
            <a:normAutofit/>
          </a:bodyPr>
          <a:lstStyle/>
          <a:p>
            <a:r>
              <a:rPr lang="en-GB" dirty="0">
                <a:hlinkClick r:id="rId3">
                  <a:extLst>
                    <a:ext uri="{A12FA001-AC4F-418D-AE19-62706E023703}">
                      <ahyp:hlinkClr xmlns:ahyp="http://schemas.microsoft.com/office/drawing/2018/hyperlinkcolor" xmlns="" val="tx"/>
                    </a:ext>
                  </a:extLst>
                </a:hlinkClick>
              </a:rPr>
              <a:t>Producer API</a:t>
            </a:r>
            <a:endParaRPr lang="en-GB" dirty="0"/>
          </a:p>
          <a:p>
            <a:r>
              <a:rPr lang="en-GB" dirty="0">
                <a:hlinkClick r:id="rId4">
                  <a:extLst>
                    <a:ext uri="{A12FA001-AC4F-418D-AE19-62706E023703}">
                      <ahyp:hlinkClr xmlns:ahyp="http://schemas.microsoft.com/office/drawing/2018/hyperlinkcolor" xmlns="" val="tx"/>
                    </a:ext>
                  </a:extLst>
                </a:hlinkClick>
              </a:rPr>
              <a:t>Consumer API</a:t>
            </a:r>
            <a:r>
              <a:rPr lang="en-GB" dirty="0"/>
              <a:t> </a:t>
            </a:r>
          </a:p>
          <a:p>
            <a:r>
              <a:rPr lang="en-GB" dirty="0">
                <a:hlinkClick r:id="rId5">
                  <a:extLst>
                    <a:ext uri="{A12FA001-AC4F-418D-AE19-62706E023703}">
                      <ahyp:hlinkClr xmlns:ahyp="http://schemas.microsoft.com/office/drawing/2018/hyperlinkcolor" xmlns="" val="tx"/>
                    </a:ext>
                  </a:extLst>
                </a:hlinkClick>
              </a:rPr>
              <a:t>Streams API</a:t>
            </a:r>
            <a:r>
              <a:rPr lang="en-GB" dirty="0"/>
              <a:t> </a:t>
            </a:r>
          </a:p>
          <a:p>
            <a:r>
              <a:rPr lang="en-GB" dirty="0">
                <a:hlinkClick r:id="rId6">
                  <a:extLst>
                    <a:ext uri="{A12FA001-AC4F-418D-AE19-62706E023703}">
                      <ahyp:hlinkClr xmlns:ahyp="http://schemas.microsoft.com/office/drawing/2018/hyperlinkcolor" xmlns="" val="tx"/>
                    </a:ext>
                  </a:extLst>
                </a:hlinkClick>
              </a:rPr>
              <a:t>Connector API</a:t>
            </a:r>
            <a:endParaRPr lang="en-GB" dirty="0"/>
          </a:p>
        </p:txBody>
      </p:sp>
      <p:sp>
        <p:nvSpPr>
          <p:cNvPr id="2" name="Title 1">
            <a:extLst>
              <a:ext uri="{FF2B5EF4-FFF2-40B4-BE49-F238E27FC236}">
                <a16:creationId xmlns:a16="http://schemas.microsoft.com/office/drawing/2014/main" xmlns="" id="{C9B79A36-E08E-494D-AE7D-BCE43893C098}"/>
              </a:ext>
            </a:extLst>
          </p:cNvPr>
          <p:cNvSpPr>
            <a:spLocks noGrp="1"/>
          </p:cNvSpPr>
          <p:nvPr>
            <p:ph type="title"/>
          </p:nvPr>
        </p:nvSpPr>
        <p:spPr/>
        <p:txBody>
          <a:bodyPr/>
          <a:lstStyle/>
          <a:p>
            <a:r>
              <a:rPr lang="en-GB" b="1" dirty="0"/>
              <a:t>Apache </a:t>
            </a:r>
            <a:r>
              <a:rPr lang="en-GB" b="1" dirty="0" err="1"/>
              <a:t>kafka</a:t>
            </a:r>
            <a:r>
              <a:rPr lang="en-GB" b="1" dirty="0"/>
              <a:t> API</a:t>
            </a:r>
          </a:p>
        </p:txBody>
      </p:sp>
      <p:pic>
        <p:nvPicPr>
          <p:cNvPr id="4" name="Content Placeholder 4">
            <a:extLst>
              <a:ext uri="{FF2B5EF4-FFF2-40B4-BE49-F238E27FC236}">
                <a16:creationId xmlns:a16="http://schemas.microsoft.com/office/drawing/2014/main" xmlns="" id="{2EB94188-02A6-477E-982C-91090C5FBF1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68687" y="1369476"/>
            <a:ext cx="4937760" cy="4152524"/>
          </a:xfrm>
          <a:prstGeom prst="rect">
            <a:avLst/>
          </a:prstGeom>
        </p:spPr>
      </p:pic>
    </p:spTree>
    <p:extLst>
      <p:ext uri="{BB962C8B-B14F-4D97-AF65-F5344CB8AC3E}">
        <p14:creationId xmlns:p14="http://schemas.microsoft.com/office/powerpoint/2010/main" val="2940807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0AF8D8F-A3C3-48CA-93AB-4D2515926179}"/>
              </a:ext>
            </a:extLst>
          </p:cNvPr>
          <p:cNvSpPr>
            <a:spLocks noGrp="1"/>
          </p:cNvSpPr>
          <p:nvPr>
            <p:ph idx="1"/>
          </p:nvPr>
        </p:nvSpPr>
        <p:spPr>
          <a:xfrm>
            <a:off x="1262744" y="1465705"/>
            <a:ext cx="9905998" cy="5321507"/>
          </a:xfrm>
        </p:spPr>
        <p:txBody>
          <a:bodyPr>
            <a:normAutofit/>
          </a:bodyPr>
          <a:lstStyle/>
          <a:p>
            <a:pPr marL="0" indent="0" algn="just">
              <a:buNone/>
            </a:pPr>
            <a:r>
              <a:rPr lang="en-US" sz="1800" dirty="0">
                <a:latin typeface="Times New Roman" pitchFamily="18" charset="0"/>
                <a:cs typeface="Times New Roman" pitchFamily="18" charset="0"/>
              </a:rPr>
              <a:t>Apache Kafka can be applied to a wide variety of use cases and industries.</a:t>
            </a:r>
          </a:p>
          <a:p>
            <a:pPr marL="0" indent="0" algn="just">
              <a:buNone/>
            </a:pPr>
            <a:endParaRPr lang="en-US" sz="1800" dirty="0">
              <a:latin typeface="Times New Roman" pitchFamily="18" charset="0"/>
              <a:cs typeface="Times New Roman" pitchFamily="18" charset="0"/>
            </a:endParaRPr>
          </a:p>
          <a:p>
            <a:pPr marL="457200" indent="-457200" algn="just">
              <a:buFont typeface="Wingdings" pitchFamily="2" charset="2"/>
              <a:buChar char="ü"/>
            </a:pPr>
            <a:r>
              <a:rPr lang="en-US" sz="1800" dirty="0">
                <a:latin typeface="Times New Roman" pitchFamily="18" charset="0"/>
                <a:cs typeface="Times New Roman" pitchFamily="18" charset="0"/>
              </a:rPr>
              <a:t>Logistics companies can make applications to track their shipments quickly, reliably and in real </a:t>
            </a:r>
            <a:r>
              <a:rPr lang="en-US" sz="1800" dirty="0" smtClean="0">
                <a:latin typeface="Times New Roman" pitchFamily="18" charset="0"/>
                <a:cs typeface="Times New Roman" pitchFamily="18" charset="0"/>
              </a:rPr>
              <a:t>time</a:t>
            </a:r>
            <a:endParaRPr lang="en-US" sz="1800" dirty="0">
              <a:latin typeface="Times New Roman" pitchFamily="18" charset="0"/>
              <a:cs typeface="Times New Roman" pitchFamily="18" charset="0"/>
            </a:endParaRPr>
          </a:p>
          <a:p>
            <a:pPr marL="0" indent="0" algn="just">
              <a:buNone/>
            </a:pPr>
            <a:endParaRPr lang="en-US" sz="1800" dirty="0">
              <a:latin typeface="Times New Roman" pitchFamily="18" charset="0"/>
              <a:cs typeface="Times New Roman" pitchFamily="18" charset="0"/>
            </a:endParaRPr>
          </a:p>
          <a:p>
            <a:pPr marL="457200" indent="-457200" algn="just">
              <a:buFont typeface="Wingdings" pitchFamily="2" charset="2"/>
              <a:buChar char="ü"/>
            </a:pPr>
            <a:r>
              <a:rPr lang="en-US" sz="1800" dirty="0">
                <a:latin typeface="Times New Roman" pitchFamily="18" charset="0"/>
                <a:cs typeface="Times New Roman" pitchFamily="18" charset="0"/>
              </a:rPr>
              <a:t>The financial industry can build applications to aggregate data sources for real-time views of potential risks and to detect and minimize fraudulent transactions</a:t>
            </a:r>
            <a:r>
              <a:rPr lang="en-US" sz="1800" dirty="0" smtClean="0">
                <a:latin typeface="Times New Roman" pitchFamily="18" charset="0"/>
                <a:cs typeface="Times New Roman" pitchFamily="18" charset="0"/>
              </a:rPr>
              <a:t>.</a:t>
            </a:r>
          </a:p>
          <a:p>
            <a:pPr marL="457200" indent="-457200" algn="just">
              <a:buFont typeface="Wingdings" pitchFamily="2" charset="2"/>
              <a:buChar char="ü"/>
            </a:pPr>
            <a:endParaRPr lang="en-US" sz="1800" dirty="0">
              <a:latin typeface="Times New Roman" pitchFamily="18" charset="0"/>
              <a:cs typeface="Times New Roman" pitchFamily="18" charset="0"/>
            </a:endParaRPr>
          </a:p>
          <a:p>
            <a:pPr marL="457200" indent="-457200" algn="just">
              <a:buFont typeface="Wingdings" pitchFamily="2" charset="2"/>
              <a:buChar char="ü"/>
            </a:pPr>
            <a:r>
              <a:rPr lang="en-US" sz="1800" dirty="0">
                <a:latin typeface="Times New Roman" pitchFamily="18" charset="0"/>
                <a:cs typeface="Times New Roman" pitchFamily="18" charset="0"/>
              </a:rPr>
              <a:t>Travel companies can implement applications with the Kafka Streams API to make real-time decisions to find the best price for individual customers, cross-sell additional services, and process reservations and reservations</a:t>
            </a: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a:p>
            <a:pPr marL="0" indent="0" algn="just">
              <a:buNone/>
            </a:pPr>
            <a:endParaRPr lang="en-US" sz="1800" dirty="0">
              <a:latin typeface="Times New Roman" pitchFamily="18" charset="0"/>
              <a:cs typeface="Times New Roman" pitchFamily="18" charset="0"/>
            </a:endParaRPr>
          </a:p>
          <a:p>
            <a:pPr marL="457200" indent="-457200" algn="just">
              <a:buFont typeface="Wingdings" pitchFamily="2" charset="2"/>
              <a:buChar char="ü"/>
            </a:pPr>
            <a:r>
              <a:rPr lang="en-US" sz="1800" dirty="0">
                <a:latin typeface="Times New Roman" pitchFamily="18" charset="0"/>
                <a:cs typeface="Times New Roman" pitchFamily="18" charset="0"/>
              </a:rPr>
              <a:t>Automotive and manufacturing companies can implement applications to monitor telemetry data from connected vehicles to ensure optimum performance of their production lines, gain real-time insight into their supply chains and decide whether an audit is required.</a:t>
            </a:r>
          </a:p>
        </p:txBody>
      </p:sp>
      <p:sp>
        <p:nvSpPr>
          <p:cNvPr id="2" name="Title 1">
            <a:extLst>
              <a:ext uri="{FF2B5EF4-FFF2-40B4-BE49-F238E27FC236}">
                <a16:creationId xmlns:a16="http://schemas.microsoft.com/office/drawing/2014/main" xmlns="" id="{E2844FAF-C0FA-4529-B5F7-8D5E648EAFD7}"/>
              </a:ext>
            </a:extLst>
          </p:cNvPr>
          <p:cNvSpPr>
            <a:spLocks noGrp="1"/>
          </p:cNvSpPr>
          <p:nvPr>
            <p:ph type="title"/>
          </p:nvPr>
        </p:nvSpPr>
        <p:spPr>
          <a:xfrm>
            <a:off x="1171893" y="394998"/>
            <a:ext cx="9905998" cy="1478570"/>
          </a:xfrm>
        </p:spPr>
        <p:txBody>
          <a:bodyPr/>
          <a:lstStyle/>
          <a:p>
            <a:r>
              <a:rPr lang="en-US" b="1" dirty="0" smtClean="0"/>
              <a:t>Use</a:t>
            </a:r>
            <a:endParaRPr lang="en-US" b="1" dirty="0"/>
          </a:p>
        </p:txBody>
      </p:sp>
    </p:spTree>
    <p:extLst>
      <p:ext uri="{BB962C8B-B14F-4D97-AF65-F5344CB8AC3E}">
        <p14:creationId xmlns:p14="http://schemas.microsoft.com/office/powerpoint/2010/main" val="291586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xmlns="" id="{37518193-4837-48D3-A727-95CD5929022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70708" y="2097088"/>
            <a:ext cx="2846853" cy="760117"/>
          </a:xfrm>
        </p:spPr>
      </p:pic>
      <p:sp>
        <p:nvSpPr>
          <p:cNvPr id="2" name="Title 1">
            <a:extLst>
              <a:ext uri="{FF2B5EF4-FFF2-40B4-BE49-F238E27FC236}">
                <a16:creationId xmlns:a16="http://schemas.microsoft.com/office/drawing/2014/main" xmlns="" id="{4C05A5C3-5517-443A-9DAB-CC19DFFB1A42}"/>
              </a:ext>
            </a:extLst>
          </p:cNvPr>
          <p:cNvSpPr>
            <a:spLocks noGrp="1"/>
          </p:cNvSpPr>
          <p:nvPr>
            <p:ph type="title"/>
          </p:nvPr>
        </p:nvSpPr>
        <p:spPr/>
        <p:txBody>
          <a:bodyPr/>
          <a:lstStyle/>
          <a:p>
            <a:r>
              <a:rPr lang="en-IN" dirty="0"/>
              <a:t>Who uses Apache </a:t>
            </a:r>
            <a:r>
              <a:rPr lang="en-IN" dirty="0" smtClean="0"/>
              <a:t>Kafka?</a:t>
            </a:r>
            <a:endParaRPr lang="en-GB" b="1" dirty="0"/>
          </a:p>
        </p:txBody>
      </p:sp>
      <p:pic>
        <p:nvPicPr>
          <p:cNvPr id="11" name="Picture 10">
            <a:extLst>
              <a:ext uri="{FF2B5EF4-FFF2-40B4-BE49-F238E27FC236}">
                <a16:creationId xmlns:a16="http://schemas.microsoft.com/office/drawing/2014/main" xmlns="" id="{14DB8E2B-E8C9-44EE-914C-692DB0CB91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708" y="3487932"/>
            <a:ext cx="2317223" cy="1374886"/>
          </a:xfrm>
          <a:prstGeom prst="rect">
            <a:avLst/>
          </a:prstGeom>
        </p:spPr>
      </p:pic>
      <p:pic>
        <p:nvPicPr>
          <p:cNvPr id="13" name="Picture 12">
            <a:extLst>
              <a:ext uri="{FF2B5EF4-FFF2-40B4-BE49-F238E27FC236}">
                <a16:creationId xmlns:a16="http://schemas.microsoft.com/office/drawing/2014/main" xmlns="" id="{CD147097-124C-42D2-AB21-3B18415D81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6834" y="2110300"/>
            <a:ext cx="2769326" cy="748583"/>
          </a:xfrm>
          <a:prstGeom prst="rect">
            <a:avLst/>
          </a:prstGeom>
        </p:spPr>
      </p:pic>
      <p:pic>
        <p:nvPicPr>
          <p:cNvPr id="15" name="Picture 14">
            <a:extLst>
              <a:ext uri="{FF2B5EF4-FFF2-40B4-BE49-F238E27FC236}">
                <a16:creationId xmlns:a16="http://schemas.microsoft.com/office/drawing/2014/main" xmlns="" id="{13A3F07F-4218-4197-9EA2-247EAC80B6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22329" y="1767989"/>
            <a:ext cx="2846853" cy="1423427"/>
          </a:xfrm>
          <a:prstGeom prst="rect">
            <a:avLst/>
          </a:prstGeom>
        </p:spPr>
      </p:pic>
      <p:pic>
        <p:nvPicPr>
          <p:cNvPr id="17" name="Picture 16">
            <a:extLst>
              <a:ext uri="{FF2B5EF4-FFF2-40B4-BE49-F238E27FC236}">
                <a16:creationId xmlns:a16="http://schemas.microsoft.com/office/drawing/2014/main" xmlns="" id="{843906A9-69EA-4B43-AEAF-91FF88F04E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74413" y="3098403"/>
            <a:ext cx="2153944" cy="2153944"/>
          </a:xfrm>
          <a:prstGeom prst="rect">
            <a:avLst/>
          </a:prstGeom>
        </p:spPr>
      </p:pic>
      <p:pic>
        <p:nvPicPr>
          <p:cNvPr id="19" name="Picture 18">
            <a:extLst>
              <a:ext uri="{FF2B5EF4-FFF2-40B4-BE49-F238E27FC236}">
                <a16:creationId xmlns:a16="http://schemas.microsoft.com/office/drawing/2014/main" xmlns="" id="{E747DA1C-7F67-45EE-961E-B0EB1E92231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56153" y="3098403"/>
            <a:ext cx="2153944" cy="2153944"/>
          </a:xfrm>
          <a:prstGeom prst="rect">
            <a:avLst/>
          </a:prstGeom>
        </p:spPr>
      </p:pic>
      <p:pic>
        <p:nvPicPr>
          <p:cNvPr id="21" name="Picture 20">
            <a:extLst>
              <a:ext uri="{FF2B5EF4-FFF2-40B4-BE49-F238E27FC236}">
                <a16:creationId xmlns:a16="http://schemas.microsoft.com/office/drawing/2014/main" xmlns="" id="{D26DFB04-AA82-4819-87AA-B90CB91F148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64832" y="3280569"/>
            <a:ext cx="1457497" cy="1789611"/>
          </a:xfrm>
          <a:prstGeom prst="rect">
            <a:avLst/>
          </a:prstGeom>
        </p:spPr>
      </p:pic>
    </p:spTree>
    <p:extLst>
      <p:ext uri="{BB962C8B-B14F-4D97-AF65-F5344CB8AC3E}">
        <p14:creationId xmlns:p14="http://schemas.microsoft.com/office/powerpoint/2010/main" val="203598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E2ED8D4-D423-448D-BCF1-5AC28B19C58D}"/>
              </a:ext>
            </a:extLst>
          </p:cNvPr>
          <p:cNvSpPr>
            <a:spLocks noGrp="1"/>
          </p:cNvSpPr>
          <p:nvPr>
            <p:ph idx="1"/>
          </p:nvPr>
        </p:nvSpPr>
        <p:spPr>
          <a:xfrm>
            <a:off x="1617565" y="1767516"/>
            <a:ext cx="9081839" cy="4217333"/>
          </a:xfrm>
        </p:spPr>
        <p:txBody>
          <a:bodyPr>
            <a:normAutofit fontScale="62500" lnSpcReduction="20000"/>
          </a:bodyPr>
          <a:lstStyle/>
          <a:p>
            <a:pPr algn="just"/>
            <a:r>
              <a:rPr lang="en-US" dirty="0">
                <a:latin typeface="Times New Roman" pitchFamily="18" charset="0"/>
                <a:cs typeface="Times New Roman" pitchFamily="18" charset="0"/>
              </a:rPr>
              <a:t>The key motivation of the Kafka Streams API is to bring stream processing from the Big Data niche to the mainstream application development world and radically improve the developer and operations experience by making stream processing simple and easy.</a:t>
            </a: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Using the Kafka Streams API, you can implement standard Java applications to solve your small or large-scale stream processing needs and then run those applications on client machines around your Kafka cluster.</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Your applications are completely elastic: you can run one or more instances of your application; they will automatically discover each other and process data collaboratively.</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Your applications are also fault-tolerant: if one of the instances dies, the remaining instances automatically get their run - with no data loss.</a:t>
            </a:r>
          </a:p>
          <a:p>
            <a:pPr algn="just"/>
            <a:r>
              <a:rPr lang="en-US" dirty="0">
                <a:latin typeface="Times New Roman" pitchFamily="18" charset="0"/>
                <a:cs typeface="Times New Roman" pitchFamily="18" charset="0"/>
              </a:rPr>
              <a:t>You are free to choose any technology that can use Java applications including but not limited to Deployment-wise, Puppet, Chef, </a:t>
            </a:r>
            <a:r>
              <a:rPr lang="en-US" dirty="0" err="1">
                <a:latin typeface="Times New Roman" pitchFamily="18" charset="0"/>
                <a:cs typeface="Times New Roman" pitchFamily="18" charset="0"/>
              </a:rPr>
              <a:t>Ansible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Docker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Mesos</a:t>
            </a:r>
            <a:r>
              <a:rPr lang="en-US" dirty="0">
                <a:latin typeface="Times New Roman" pitchFamily="18" charset="0"/>
                <a:cs typeface="Times New Roman" pitchFamily="18" charset="0"/>
              </a:rPr>
              <a:t>, YARN, </a:t>
            </a:r>
            <a:r>
              <a:rPr lang="en-US" dirty="0" err="1">
                <a:latin typeface="Times New Roman" pitchFamily="18" charset="0"/>
                <a:cs typeface="Times New Roman" pitchFamily="18" charset="0"/>
              </a:rPr>
              <a:t>Kubernetes</a:t>
            </a:r>
            <a:r>
              <a:rPr lang="en-US" dirty="0">
                <a:latin typeface="Times New Roman" pitchFamily="18" charset="0"/>
                <a:cs typeface="Times New Roman" pitchFamily="18" charset="0"/>
              </a:rPr>
              <a:t> and others.</a:t>
            </a:r>
          </a:p>
        </p:txBody>
      </p:sp>
      <p:sp>
        <p:nvSpPr>
          <p:cNvPr id="2" name="Title 1">
            <a:extLst>
              <a:ext uri="{FF2B5EF4-FFF2-40B4-BE49-F238E27FC236}">
                <a16:creationId xmlns:a16="http://schemas.microsoft.com/office/drawing/2014/main" xmlns="" id="{4E4B0A49-4E85-47E9-BC04-7752925DBA3C}"/>
              </a:ext>
            </a:extLst>
          </p:cNvPr>
          <p:cNvSpPr>
            <a:spLocks noGrp="1"/>
          </p:cNvSpPr>
          <p:nvPr>
            <p:ph type="title"/>
          </p:nvPr>
        </p:nvSpPr>
        <p:spPr/>
        <p:txBody>
          <a:bodyPr/>
          <a:lstStyle/>
          <a:p>
            <a:r>
              <a:rPr lang="en-IN" dirty="0"/>
              <a:t>Motivation</a:t>
            </a:r>
            <a:endParaRPr lang="en-US" b="1" dirty="0"/>
          </a:p>
        </p:txBody>
      </p:sp>
    </p:spTree>
    <p:extLst>
      <p:ext uri="{BB962C8B-B14F-4D97-AF65-F5344CB8AC3E}">
        <p14:creationId xmlns:p14="http://schemas.microsoft.com/office/powerpoint/2010/main" val="3785177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177E729-2A5B-43B8-B90C-9FB253150650}"/>
              </a:ext>
            </a:extLst>
          </p:cNvPr>
          <p:cNvSpPr>
            <a:spLocks noGrp="1"/>
          </p:cNvSpPr>
          <p:nvPr>
            <p:ph idx="1"/>
          </p:nvPr>
        </p:nvSpPr>
        <p:spPr>
          <a:xfrm>
            <a:off x="1826570" y="2264229"/>
            <a:ext cx="8911688" cy="3777622"/>
          </a:xfrm>
        </p:spPr>
        <p:txBody>
          <a:bodyPr>
            <a:normAutofit/>
          </a:bodyPr>
          <a:lstStyle/>
          <a:p>
            <a:pPr algn="just"/>
            <a:r>
              <a:rPr lang="en-US" sz="2000" dirty="0"/>
              <a:t>The approach of the Kafka Streams API is in stark contrast to other stream processing tools that require you to set up and run similar heavy infrastructure with separate processing sets and their own custom rules on how to use and interact with them.</a:t>
            </a:r>
          </a:p>
        </p:txBody>
      </p:sp>
      <p:sp>
        <p:nvSpPr>
          <p:cNvPr id="2" name="Title 1">
            <a:extLst>
              <a:ext uri="{FF2B5EF4-FFF2-40B4-BE49-F238E27FC236}">
                <a16:creationId xmlns:a16="http://schemas.microsoft.com/office/drawing/2014/main" xmlns="" id="{0ABC5900-D014-4428-9FF7-9594C280B4CA}"/>
              </a:ext>
            </a:extLst>
          </p:cNvPr>
          <p:cNvSpPr>
            <a:spLocks noGrp="1"/>
          </p:cNvSpPr>
          <p:nvPr>
            <p:ph type="title"/>
          </p:nvPr>
        </p:nvSpPr>
        <p:spPr/>
        <p:txBody>
          <a:bodyPr>
            <a:normAutofit/>
          </a:bodyPr>
          <a:lstStyle/>
          <a:p>
            <a:r>
              <a:rPr lang="en-US" dirty="0"/>
              <a:t>“Build applications, not infrastructure!”</a:t>
            </a:r>
            <a:endParaRPr lang="en-US" b="1" dirty="0"/>
          </a:p>
        </p:txBody>
      </p:sp>
    </p:spTree>
    <p:extLst>
      <p:ext uri="{BB962C8B-B14F-4D97-AF65-F5344CB8AC3E}">
        <p14:creationId xmlns:p14="http://schemas.microsoft.com/office/powerpoint/2010/main" val="646504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9D78ADB-C969-4BD5-A47B-124A611D300C}"/>
              </a:ext>
            </a:extLst>
          </p:cNvPr>
          <p:cNvSpPr>
            <a:spLocks noGrp="1"/>
          </p:cNvSpPr>
          <p:nvPr>
            <p:ph idx="1"/>
          </p:nvPr>
        </p:nvSpPr>
        <p:spPr>
          <a:xfrm>
            <a:off x="2589212" y="1905000"/>
            <a:ext cx="8915400" cy="3777622"/>
          </a:xfrm>
        </p:spPr>
        <p:txBody>
          <a:bodyPr/>
          <a:lstStyle/>
          <a:p>
            <a:endParaRPr lang="en-US" dirty="0"/>
          </a:p>
          <a:p>
            <a:r>
              <a:rPr lang="en-US" dirty="0"/>
              <a:t>Data pipelines start this way</a:t>
            </a:r>
          </a:p>
        </p:txBody>
      </p:sp>
      <p:sp>
        <p:nvSpPr>
          <p:cNvPr id="2" name="Title 1">
            <a:extLst>
              <a:ext uri="{FF2B5EF4-FFF2-40B4-BE49-F238E27FC236}">
                <a16:creationId xmlns:a16="http://schemas.microsoft.com/office/drawing/2014/main" xmlns="" id="{08A5D7EE-38C5-49B2-B16B-F9D111E22E43}"/>
              </a:ext>
            </a:extLst>
          </p:cNvPr>
          <p:cNvSpPr>
            <a:spLocks noGrp="1"/>
          </p:cNvSpPr>
          <p:nvPr>
            <p:ph type="title"/>
          </p:nvPr>
        </p:nvSpPr>
        <p:spPr/>
        <p:txBody>
          <a:bodyPr/>
          <a:lstStyle/>
          <a:p>
            <a:r>
              <a:rPr lang="en-US" dirty="0"/>
              <a:t>Why Kafka?</a:t>
            </a:r>
            <a:endParaRPr lang="en-US" b="1" dirty="0"/>
          </a:p>
        </p:txBody>
      </p:sp>
      <p:pic>
        <p:nvPicPr>
          <p:cNvPr id="5" name="Picture 4">
            <a:extLst>
              <a:ext uri="{FF2B5EF4-FFF2-40B4-BE49-F238E27FC236}">
                <a16:creationId xmlns:a16="http://schemas.microsoft.com/office/drawing/2014/main" xmlns="" id="{C66C2424-8ACC-4C7C-9075-54DB830698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9212" y="3185890"/>
            <a:ext cx="6563641" cy="1590897"/>
          </a:xfrm>
          <a:prstGeom prst="rect">
            <a:avLst/>
          </a:prstGeom>
        </p:spPr>
      </p:pic>
    </p:spTree>
    <p:extLst>
      <p:ext uri="{BB962C8B-B14F-4D97-AF65-F5344CB8AC3E}">
        <p14:creationId xmlns:p14="http://schemas.microsoft.com/office/powerpoint/2010/main" val="4222710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F82F1DB-C8F5-4D0D-B0CC-56214363C6C6}"/>
              </a:ext>
            </a:extLst>
          </p:cNvPr>
          <p:cNvSpPr>
            <a:spLocks noGrp="1"/>
          </p:cNvSpPr>
          <p:nvPr>
            <p:ph idx="1"/>
          </p:nvPr>
        </p:nvSpPr>
        <p:spPr>
          <a:xfrm>
            <a:off x="2592925" y="1907309"/>
            <a:ext cx="8915400" cy="3777622"/>
          </a:xfrm>
        </p:spPr>
        <p:txBody>
          <a:bodyPr/>
          <a:lstStyle/>
          <a:p>
            <a:r>
              <a:rPr lang="en-US" dirty="0"/>
              <a:t>Then we use them again</a:t>
            </a:r>
          </a:p>
        </p:txBody>
      </p:sp>
      <p:sp>
        <p:nvSpPr>
          <p:cNvPr id="2" name="Title 1">
            <a:extLst>
              <a:ext uri="{FF2B5EF4-FFF2-40B4-BE49-F238E27FC236}">
                <a16:creationId xmlns:a16="http://schemas.microsoft.com/office/drawing/2014/main" xmlns="" id="{673103A7-850F-4248-8BAD-94114D05295B}"/>
              </a:ext>
            </a:extLst>
          </p:cNvPr>
          <p:cNvSpPr>
            <a:spLocks noGrp="1"/>
          </p:cNvSpPr>
          <p:nvPr>
            <p:ph type="title"/>
          </p:nvPr>
        </p:nvSpPr>
        <p:spPr/>
        <p:txBody>
          <a:bodyPr/>
          <a:lstStyle/>
          <a:p>
            <a:r>
              <a:rPr lang="en-US" dirty="0"/>
              <a:t>Why Kafka?</a:t>
            </a:r>
            <a:endParaRPr lang="en-US" b="1" dirty="0"/>
          </a:p>
        </p:txBody>
      </p:sp>
      <p:pic>
        <p:nvPicPr>
          <p:cNvPr id="5" name="Picture 4">
            <a:extLst>
              <a:ext uri="{FF2B5EF4-FFF2-40B4-BE49-F238E27FC236}">
                <a16:creationId xmlns:a16="http://schemas.microsoft.com/office/drawing/2014/main" xmlns="" id="{6EDABCD1-8DBB-4D3D-93D6-71688C2D9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2925" y="2484355"/>
            <a:ext cx="7802064" cy="3867690"/>
          </a:xfrm>
          <a:prstGeom prst="rect">
            <a:avLst/>
          </a:prstGeom>
        </p:spPr>
      </p:pic>
    </p:spTree>
    <p:extLst>
      <p:ext uri="{BB962C8B-B14F-4D97-AF65-F5344CB8AC3E}">
        <p14:creationId xmlns:p14="http://schemas.microsoft.com/office/powerpoint/2010/main" val="624518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36F6635-EB2B-4318-B949-81EDA8CE9497}"/>
              </a:ext>
            </a:extLst>
          </p:cNvPr>
          <p:cNvSpPr>
            <a:spLocks noGrp="1"/>
          </p:cNvSpPr>
          <p:nvPr>
            <p:ph idx="1"/>
          </p:nvPr>
        </p:nvSpPr>
        <p:spPr>
          <a:xfrm>
            <a:off x="2663103" y="2078181"/>
            <a:ext cx="8915400" cy="3777622"/>
          </a:xfrm>
        </p:spPr>
        <p:txBody>
          <a:bodyPr/>
          <a:lstStyle/>
          <a:p>
            <a:r>
              <a:rPr lang="en-US" dirty="0"/>
              <a:t>Then we add additional endpoints to existing resources</a:t>
            </a:r>
          </a:p>
        </p:txBody>
      </p:sp>
      <p:sp>
        <p:nvSpPr>
          <p:cNvPr id="2" name="Title 1">
            <a:extLst>
              <a:ext uri="{FF2B5EF4-FFF2-40B4-BE49-F238E27FC236}">
                <a16:creationId xmlns:a16="http://schemas.microsoft.com/office/drawing/2014/main" xmlns="" id="{ABACAA55-6115-46A0-AAA4-D14064A2F0E8}"/>
              </a:ext>
            </a:extLst>
          </p:cNvPr>
          <p:cNvSpPr>
            <a:spLocks noGrp="1"/>
          </p:cNvSpPr>
          <p:nvPr>
            <p:ph type="title"/>
          </p:nvPr>
        </p:nvSpPr>
        <p:spPr/>
        <p:txBody>
          <a:bodyPr/>
          <a:lstStyle/>
          <a:p>
            <a:r>
              <a:rPr lang="en-US" dirty="0"/>
              <a:t>Why Kafka?</a:t>
            </a:r>
            <a:endParaRPr lang="en-US" b="1" dirty="0"/>
          </a:p>
        </p:txBody>
      </p:sp>
      <p:pic>
        <p:nvPicPr>
          <p:cNvPr id="5" name="Picture 4">
            <a:extLst>
              <a:ext uri="{FF2B5EF4-FFF2-40B4-BE49-F238E27FC236}">
                <a16:creationId xmlns:a16="http://schemas.microsoft.com/office/drawing/2014/main" xmlns="" id="{2AFDC2E4-3340-4DF9-A42B-A8C8EDF1A4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3104" y="2649658"/>
            <a:ext cx="6342352" cy="3692218"/>
          </a:xfrm>
          <a:prstGeom prst="rect">
            <a:avLst/>
          </a:prstGeom>
        </p:spPr>
      </p:pic>
    </p:spTree>
    <p:extLst>
      <p:ext uri="{BB962C8B-B14F-4D97-AF65-F5344CB8AC3E}">
        <p14:creationId xmlns:p14="http://schemas.microsoft.com/office/powerpoint/2010/main" val="3881018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18C176E-4ED8-4CB7-9DD1-FEDDE1C52528}"/>
              </a:ext>
            </a:extLst>
          </p:cNvPr>
          <p:cNvSpPr>
            <a:spLocks noGrp="1"/>
          </p:cNvSpPr>
          <p:nvPr>
            <p:ph idx="1"/>
          </p:nvPr>
        </p:nvSpPr>
        <p:spPr/>
        <p:txBody>
          <a:bodyPr/>
          <a:lstStyle/>
          <a:p>
            <a:r>
              <a:rPr lang="en-US" dirty="0"/>
              <a:t>Then it starts looking like this</a:t>
            </a:r>
          </a:p>
        </p:txBody>
      </p:sp>
      <p:sp>
        <p:nvSpPr>
          <p:cNvPr id="2" name="Title 1">
            <a:extLst>
              <a:ext uri="{FF2B5EF4-FFF2-40B4-BE49-F238E27FC236}">
                <a16:creationId xmlns:a16="http://schemas.microsoft.com/office/drawing/2014/main" xmlns="" id="{63032EDC-1E52-44AA-94A8-74094C704831}"/>
              </a:ext>
            </a:extLst>
          </p:cNvPr>
          <p:cNvSpPr>
            <a:spLocks noGrp="1"/>
          </p:cNvSpPr>
          <p:nvPr>
            <p:ph type="title"/>
          </p:nvPr>
        </p:nvSpPr>
        <p:spPr/>
        <p:txBody>
          <a:bodyPr/>
          <a:lstStyle/>
          <a:p>
            <a:r>
              <a:rPr lang="en-US" dirty="0"/>
              <a:t>Why Kafka?</a:t>
            </a:r>
            <a:endParaRPr lang="en-US" b="1" dirty="0"/>
          </a:p>
        </p:txBody>
      </p:sp>
      <p:pic>
        <p:nvPicPr>
          <p:cNvPr id="5" name="Picture 4">
            <a:extLst>
              <a:ext uri="{FF2B5EF4-FFF2-40B4-BE49-F238E27FC236}">
                <a16:creationId xmlns:a16="http://schemas.microsoft.com/office/drawing/2014/main" xmlns="" id="{313C887C-D2AA-4063-8C8A-2A43ECF3A9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9213" y="2764556"/>
            <a:ext cx="4934994" cy="2993357"/>
          </a:xfrm>
          <a:prstGeom prst="rect">
            <a:avLst/>
          </a:prstGeom>
        </p:spPr>
      </p:pic>
    </p:spTree>
    <p:extLst>
      <p:ext uri="{BB962C8B-B14F-4D97-AF65-F5344CB8AC3E}">
        <p14:creationId xmlns:p14="http://schemas.microsoft.com/office/powerpoint/2010/main" val="1318941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0E43324-4BCC-41DA-8174-3D55A1BAB25F}"/>
              </a:ext>
            </a:extLst>
          </p:cNvPr>
          <p:cNvSpPr>
            <a:spLocks noGrp="1"/>
          </p:cNvSpPr>
          <p:nvPr>
            <p:ph idx="1"/>
          </p:nvPr>
        </p:nvSpPr>
        <p:spPr>
          <a:xfrm>
            <a:off x="1141413" y="2021840"/>
            <a:ext cx="9753010" cy="5069174"/>
          </a:xfrm>
        </p:spPr>
        <p:txBody>
          <a:bodyPr>
            <a:normAutofit/>
          </a:bodyPr>
          <a:lstStyle/>
          <a:p>
            <a:r>
              <a:rPr lang="en-US" dirty="0"/>
              <a:t>Or this </a:t>
            </a:r>
            <a:r>
              <a:rPr lang="en-US" dirty="0" smtClean="0"/>
              <a:t>way</a:t>
            </a:r>
          </a:p>
          <a:p>
            <a:endParaRPr lang="en-US" dirty="0"/>
          </a:p>
          <a:p>
            <a:endParaRPr lang="en-US" dirty="0" smtClean="0"/>
          </a:p>
          <a:p>
            <a:endParaRPr lang="en-US" dirty="0"/>
          </a:p>
          <a:p>
            <a:endParaRPr lang="en-US" dirty="0"/>
          </a:p>
          <a:p>
            <a:pPr marL="0" indent="0">
              <a:buNone/>
            </a:pPr>
            <a:endParaRPr lang="en-US" dirty="0"/>
          </a:p>
          <a:p>
            <a:r>
              <a:rPr lang="en-US" dirty="0"/>
              <a:t>This is a fragile system as distributed systems and services are increasingly part of modern architecture</a:t>
            </a:r>
          </a:p>
        </p:txBody>
      </p:sp>
      <p:sp>
        <p:nvSpPr>
          <p:cNvPr id="2" name="Title 1">
            <a:extLst>
              <a:ext uri="{FF2B5EF4-FFF2-40B4-BE49-F238E27FC236}">
                <a16:creationId xmlns:a16="http://schemas.microsoft.com/office/drawing/2014/main" xmlns="" id="{2746B519-E384-4CD4-93A7-EFD5EF268F91}"/>
              </a:ext>
            </a:extLst>
          </p:cNvPr>
          <p:cNvSpPr>
            <a:spLocks noGrp="1"/>
          </p:cNvSpPr>
          <p:nvPr>
            <p:ph type="title"/>
          </p:nvPr>
        </p:nvSpPr>
        <p:spPr/>
        <p:txBody>
          <a:bodyPr/>
          <a:lstStyle/>
          <a:p>
            <a:r>
              <a:rPr lang="en-US" dirty="0"/>
              <a:t>Why Kafka?</a:t>
            </a:r>
            <a:endParaRPr lang="en-US" b="1" dirty="0"/>
          </a:p>
        </p:txBody>
      </p:sp>
      <p:pic>
        <p:nvPicPr>
          <p:cNvPr id="5" name="Picture 4">
            <a:extLst>
              <a:ext uri="{FF2B5EF4-FFF2-40B4-BE49-F238E27FC236}">
                <a16:creationId xmlns:a16="http://schemas.microsoft.com/office/drawing/2014/main" xmlns="" id="{29A91E20-9399-449E-BB12-65E28BA793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0333" y="2445816"/>
            <a:ext cx="4353858" cy="2284585"/>
          </a:xfrm>
          <a:prstGeom prst="rect">
            <a:avLst/>
          </a:prstGeom>
        </p:spPr>
      </p:pic>
    </p:spTree>
    <p:extLst>
      <p:ext uri="{BB962C8B-B14F-4D97-AF65-F5344CB8AC3E}">
        <p14:creationId xmlns:p14="http://schemas.microsoft.com/office/powerpoint/2010/main" val="2077481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3882DC3-94C2-4904-B23A-A5C42DF5A940}"/>
              </a:ext>
            </a:extLst>
          </p:cNvPr>
          <p:cNvSpPr>
            <a:spLocks noGrp="1"/>
          </p:cNvSpPr>
          <p:nvPr>
            <p:ph idx="1"/>
          </p:nvPr>
        </p:nvSpPr>
        <p:spPr/>
        <p:txBody>
          <a:bodyPr>
            <a:normAutofit/>
          </a:bodyPr>
          <a:lstStyle/>
          <a:p>
            <a:r>
              <a:rPr lang="en-US" dirty="0" smtClean="0"/>
              <a:t>Powerful</a:t>
            </a:r>
            <a:endParaRPr lang="en-US" dirty="0"/>
          </a:p>
          <a:p>
            <a:r>
              <a:rPr lang="en-US" dirty="0" smtClean="0"/>
              <a:t>Makes </a:t>
            </a:r>
            <a:r>
              <a:rPr lang="en-US" dirty="0"/>
              <a:t>your applications highly scalable, elastic, distributed, fault </a:t>
            </a:r>
            <a:r>
              <a:rPr lang="en-US" dirty="0" smtClean="0"/>
              <a:t>tolerant</a:t>
            </a:r>
          </a:p>
          <a:p>
            <a:r>
              <a:rPr lang="en-US" dirty="0" smtClean="0"/>
              <a:t>Supports </a:t>
            </a:r>
            <a:r>
              <a:rPr lang="en-US" dirty="0"/>
              <a:t>the meaning of exactly one action (exactly-once</a:t>
            </a:r>
            <a:r>
              <a:rPr lang="en-US" dirty="0" smtClean="0"/>
              <a:t>).</a:t>
            </a:r>
          </a:p>
          <a:p>
            <a:r>
              <a:rPr lang="en-US" dirty="0" smtClean="0"/>
              <a:t>State full </a:t>
            </a:r>
            <a:r>
              <a:rPr lang="en-US" dirty="0"/>
              <a:t>and stateless operations are </a:t>
            </a:r>
            <a:r>
              <a:rPr lang="en-US" dirty="0" smtClean="0"/>
              <a:t>supported.</a:t>
            </a:r>
          </a:p>
          <a:p>
            <a:r>
              <a:rPr lang="en-US" dirty="0" smtClean="0"/>
              <a:t>Chooses </a:t>
            </a:r>
            <a:r>
              <a:rPr lang="en-US" dirty="0"/>
              <a:t>between a declarative, functional API and a lower level mandatory API for maximum control and flexibility</a:t>
            </a:r>
          </a:p>
        </p:txBody>
      </p:sp>
      <p:sp>
        <p:nvSpPr>
          <p:cNvPr id="2" name="Title 1">
            <a:extLst>
              <a:ext uri="{FF2B5EF4-FFF2-40B4-BE49-F238E27FC236}">
                <a16:creationId xmlns:a16="http://schemas.microsoft.com/office/drawing/2014/main" xmlns="" id="{645F6D88-8C90-4225-A051-DBB066FD5064}"/>
              </a:ext>
            </a:extLst>
          </p:cNvPr>
          <p:cNvSpPr>
            <a:spLocks noGrp="1"/>
          </p:cNvSpPr>
          <p:nvPr>
            <p:ph type="title"/>
          </p:nvPr>
        </p:nvSpPr>
        <p:spPr/>
        <p:txBody>
          <a:bodyPr/>
          <a:lstStyle/>
          <a:p>
            <a:r>
              <a:rPr lang="en-US" dirty="0"/>
              <a:t>Why Kafka?</a:t>
            </a:r>
            <a:endParaRPr lang="en-US" b="1" dirty="0"/>
          </a:p>
        </p:txBody>
      </p:sp>
    </p:spTree>
    <p:extLst>
      <p:ext uri="{BB962C8B-B14F-4D97-AF65-F5344CB8AC3E}">
        <p14:creationId xmlns:p14="http://schemas.microsoft.com/office/powerpoint/2010/main" val="1597994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3882DC3-94C2-4904-B23A-A5C42DF5A940}"/>
              </a:ext>
            </a:extLst>
          </p:cNvPr>
          <p:cNvSpPr>
            <a:spLocks noGrp="1"/>
          </p:cNvSpPr>
          <p:nvPr>
            <p:ph idx="1"/>
          </p:nvPr>
        </p:nvSpPr>
        <p:spPr/>
        <p:txBody>
          <a:bodyPr/>
          <a:lstStyle/>
          <a:p>
            <a:pPr marL="0" indent="0">
              <a:buNone/>
            </a:pPr>
            <a:r>
              <a:rPr lang="en-US" b="1" dirty="0" smtClean="0"/>
              <a:t>Lightweight</a:t>
            </a:r>
            <a:r>
              <a:rPr lang="en-US" b="1" dirty="0"/>
              <a:t>:</a:t>
            </a:r>
          </a:p>
          <a:p>
            <a:pPr>
              <a:buFont typeface="Arial" panose="020B0604020202020204" pitchFamily="34" charset="0"/>
              <a:buChar char="•"/>
            </a:pPr>
            <a:r>
              <a:rPr lang="en-US" dirty="0" smtClean="0"/>
              <a:t>Equally </a:t>
            </a:r>
            <a:r>
              <a:rPr lang="en-US" dirty="0"/>
              <a:t>applicable for small, medium, large and very large use </a:t>
            </a:r>
            <a:r>
              <a:rPr lang="en-US" dirty="0" smtClean="0"/>
              <a:t>cases</a:t>
            </a:r>
          </a:p>
          <a:p>
            <a:pPr marL="109728" indent="0">
              <a:buNone/>
            </a:pPr>
            <a:endParaRPr lang="en-US" dirty="0" smtClean="0"/>
          </a:p>
          <a:p>
            <a:pPr>
              <a:buFont typeface="Arial" panose="020B0604020202020204" pitchFamily="34" charset="0"/>
              <a:buChar char="•"/>
            </a:pPr>
            <a:r>
              <a:rPr lang="en-US" dirty="0"/>
              <a:t>The smooth path from local development to </a:t>
            </a:r>
            <a:r>
              <a:rPr lang="en-US" dirty="0" smtClean="0"/>
              <a:t>large-scale</a:t>
            </a:r>
          </a:p>
          <a:p>
            <a:pPr marL="109728" indent="0">
              <a:buNone/>
            </a:pPr>
            <a:endParaRPr lang="en-US" dirty="0" smtClean="0"/>
          </a:p>
          <a:p>
            <a:pPr>
              <a:buFont typeface="Arial" panose="020B0604020202020204" pitchFamily="34" charset="0"/>
              <a:buChar char="•"/>
            </a:pPr>
            <a:r>
              <a:rPr lang="en-US" dirty="0"/>
              <a:t>No external dependencies other than </a:t>
            </a:r>
            <a:r>
              <a:rPr lang="en-US" dirty="0" smtClean="0"/>
              <a:t>production Apache </a:t>
            </a:r>
            <a:r>
              <a:rPr lang="en-US" dirty="0"/>
              <a:t>Kafka</a:t>
            </a:r>
          </a:p>
        </p:txBody>
      </p:sp>
      <p:sp>
        <p:nvSpPr>
          <p:cNvPr id="2" name="Title 1">
            <a:extLst>
              <a:ext uri="{FF2B5EF4-FFF2-40B4-BE49-F238E27FC236}">
                <a16:creationId xmlns:a16="http://schemas.microsoft.com/office/drawing/2014/main" xmlns="" id="{645F6D88-8C90-4225-A051-DBB066FD5064}"/>
              </a:ext>
            </a:extLst>
          </p:cNvPr>
          <p:cNvSpPr>
            <a:spLocks noGrp="1"/>
          </p:cNvSpPr>
          <p:nvPr>
            <p:ph type="title"/>
          </p:nvPr>
        </p:nvSpPr>
        <p:spPr/>
        <p:txBody>
          <a:bodyPr/>
          <a:lstStyle/>
          <a:p>
            <a:r>
              <a:rPr lang="en-US" dirty="0"/>
              <a:t>Why Kafka?</a:t>
            </a:r>
            <a:endParaRPr lang="en-US" b="1" dirty="0"/>
          </a:p>
        </p:txBody>
      </p:sp>
    </p:spTree>
    <p:extLst>
      <p:ext uri="{BB962C8B-B14F-4D97-AF65-F5344CB8AC3E}">
        <p14:creationId xmlns:p14="http://schemas.microsoft.com/office/powerpoint/2010/main" val="1383821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3882DC3-94C2-4904-B23A-A5C42DF5A940}"/>
              </a:ext>
            </a:extLst>
          </p:cNvPr>
          <p:cNvSpPr>
            <a:spLocks noGrp="1"/>
          </p:cNvSpPr>
          <p:nvPr>
            <p:ph idx="1"/>
          </p:nvPr>
        </p:nvSpPr>
        <p:spPr/>
        <p:txBody>
          <a:bodyPr>
            <a:normAutofit/>
          </a:bodyPr>
          <a:lstStyle/>
          <a:p>
            <a:pPr marL="0" indent="0">
              <a:buNone/>
            </a:pPr>
            <a:r>
              <a:rPr lang="en-US" b="1" dirty="0" smtClean="0"/>
              <a:t>Fully integrated</a:t>
            </a:r>
            <a:endParaRPr lang="en-US" b="1" dirty="0"/>
          </a:p>
          <a:p>
            <a:pPr>
              <a:buFont typeface="Arial" panose="020B0604020202020204" pitchFamily="34" charset="0"/>
              <a:buChar char="•"/>
            </a:pPr>
            <a:r>
              <a:rPr lang="en-US" dirty="0"/>
              <a:t>Easy integration into existing applications and </a:t>
            </a:r>
            <a:r>
              <a:rPr lang="en-US" dirty="0" smtClean="0"/>
              <a:t>micro services</a:t>
            </a:r>
          </a:p>
          <a:p>
            <a:pPr marL="109728" indent="0">
              <a:buNone/>
            </a:pPr>
            <a:endParaRPr lang="en-US" dirty="0" smtClean="0"/>
          </a:p>
          <a:p>
            <a:pPr>
              <a:buFont typeface="Arial" panose="020B0604020202020204" pitchFamily="34" charset="0"/>
              <a:buChar char="•"/>
            </a:pPr>
            <a:r>
              <a:rPr lang="en-US" dirty="0"/>
              <a:t>Works anywhere: in-house, public clouds, private clouds, containers, etc</a:t>
            </a:r>
            <a:r>
              <a:rPr lang="en-US" dirty="0" smtClean="0"/>
              <a:t>.</a:t>
            </a:r>
          </a:p>
          <a:p>
            <a:pPr marL="109728" indent="0">
              <a:buNone/>
            </a:pPr>
            <a:endParaRPr lang="en-US" dirty="0" smtClean="0"/>
          </a:p>
          <a:p>
            <a:pPr>
              <a:buFont typeface="Arial" panose="020B0604020202020204" pitchFamily="34" charset="0"/>
              <a:buChar char="•"/>
            </a:pPr>
            <a:r>
              <a:rPr lang="en-US" dirty="0"/>
              <a:t>Integrates with databases with continuous change data capture (CDC-Change Data Capture) performed by Kafka Connect.</a:t>
            </a:r>
          </a:p>
          <a:p>
            <a:endParaRPr lang="en-US" dirty="0"/>
          </a:p>
        </p:txBody>
      </p:sp>
      <p:sp>
        <p:nvSpPr>
          <p:cNvPr id="2" name="Title 1">
            <a:extLst>
              <a:ext uri="{FF2B5EF4-FFF2-40B4-BE49-F238E27FC236}">
                <a16:creationId xmlns:a16="http://schemas.microsoft.com/office/drawing/2014/main" xmlns="" id="{645F6D88-8C90-4225-A051-DBB066FD5064}"/>
              </a:ext>
            </a:extLst>
          </p:cNvPr>
          <p:cNvSpPr>
            <a:spLocks noGrp="1"/>
          </p:cNvSpPr>
          <p:nvPr>
            <p:ph type="title"/>
          </p:nvPr>
        </p:nvSpPr>
        <p:spPr/>
        <p:txBody>
          <a:bodyPr/>
          <a:lstStyle/>
          <a:p>
            <a:r>
              <a:rPr lang="en-US" dirty="0"/>
              <a:t>Why Kafka?</a:t>
            </a:r>
            <a:endParaRPr lang="en-US" b="1" dirty="0"/>
          </a:p>
        </p:txBody>
      </p:sp>
    </p:spTree>
    <p:extLst>
      <p:ext uri="{BB962C8B-B14F-4D97-AF65-F5344CB8AC3E}">
        <p14:creationId xmlns:p14="http://schemas.microsoft.com/office/powerpoint/2010/main" val="1604206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3882DC3-94C2-4904-B23A-A5C42DF5A940}"/>
              </a:ext>
            </a:extLst>
          </p:cNvPr>
          <p:cNvSpPr>
            <a:spLocks noGrp="1"/>
          </p:cNvSpPr>
          <p:nvPr>
            <p:ph idx="1"/>
          </p:nvPr>
        </p:nvSpPr>
        <p:spPr>
          <a:xfrm>
            <a:off x="1141413" y="1760649"/>
            <a:ext cx="9988141" cy="4387121"/>
          </a:xfrm>
        </p:spPr>
        <p:txBody>
          <a:bodyPr>
            <a:normAutofit lnSpcReduction="10000"/>
          </a:bodyPr>
          <a:lstStyle/>
          <a:p>
            <a:pPr marL="0" indent="0">
              <a:buNone/>
            </a:pPr>
            <a:endParaRPr lang="en-US" dirty="0"/>
          </a:p>
          <a:p>
            <a:pPr marL="0" indent="0">
              <a:buNone/>
            </a:pPr>
            <a:r>
              <a:rPr lang="en-US" b="1" dirty="0" smtClean="0"/>
              <a:t>Real Time</a:t>
            </a:r>
            <a:endParaRPr lang="en-US" b="1" dirty="0"/>
          </a:p>
          <a:p>
            <a:pPr>
              <a:buFont typeface="Arial" panose="020B0604020202020204" pitchFamily="34" charset="0"/>
              <a:buChar char="•"/>
            </a:pPr>
            <a:r>
              <a:rPr lang="en-US" dirty="0"/>
              <a:t>Millisecond processing </a:t>
            </a:r>
            <a:r>
              <a:rPr lang="en-US" dirty="0" smtClean="0"/>
              <a:t>latency</a:t>
            </a:r>
          </a:p>
          <a:p>
            <a:pPr>
              <a:buFont typeface="Arial" panose="020B0604020202020204" pitchFamily="34" charset="0"/>
              <a:buChar char="•"/>
            </a:pPr>
            <a:r>
              <a:rPr lang="en-US" dirty="0"/>
              <a:t>Record process every time (no </a:t>
            </a:r>
            <a:r>
              <a:rPr lang="en-US" dirty="0" smtClean="0"/>
              <a:t>micro processing)</a:t>
            </a:r>
          </a:p>
          <a:p>
            <a:pPr>
              <a:buFont typeface="Arial" panose="020B0604020202020204" pitchFamily="34" charset="0"/>
              <a:buChar char="•"/>
            </a:pPr>
            <a:r>
              <a:rPr lang="en-US" dirty="0"/>
              <a:t>It processes late-arriving and out-of-order data smoothly.</a:t>
            </a:r>
          </a:p>
          <a:p>
            <a:pPr marL="0" indent="0">
              <a:buNone/>
            </a:pPr>
            <a:r>
              <a:rPr lang="en-US" b="1" dirty="0" smtClean="0"/>
              <a:t>Safe</a:t>
            </a:r>
          </a:p>
          <a:p>
            <a:pPr>
              <a:buFont typeface="Arial" panose="020B0604020202020204" pitchFamily="34" charset="0"/>
              <a:buChar char="•"/>
            </a:pPr>
            <a:r>
              <a:rPr lang="en-US" dirty="0"/>
              <a:t>Supports transit data encryption (encryption of data-in-transit</a:t>
            </a:r>
            <a:r>
              <a:rPr lang="en-US" dirty="0" smtClean="0"/>
              <a:t>)</a:t>
            </a:r>
          </a:p>
          <a:p>
            <a:pPr>
              <a:buFont typeface="Arial" panose="020B0604020202020204" pitchFamily="34" charset="0"/>
              <a:buChar char="•"/>
            </a:pPr>
            <a:r>
              <a:rPr lang="en-US" dirty="0"/>
              <a:t>Authentication and authorization support</a:t>
            </a:r>
          </a:p>
          <a:p>
            <a:pPr marL="0" indent="0">
              <a:buNone/>
            </a:pPr>
            <a:endParaRPr lang="en-US" dirty="0"/>
          </a:p>
          <a:p>
            <a:pPr>
              <a:buFont typeface="Arial" panose="020B0604020202020204" pitchFamily="34" charset="0"/>
              <a:buChar char="•"/>
            </a:pPr>
            <a:endParaRPr lang="en-US" dirty="0"/>
          </a:p>
          <a:p>
            <a:endParaRPr lang="en-US" dirty="0"/>
          </a:p>
        </p:txBody>
      </p:sp>
      <p:sp>
        <p:nvSpPr>
          <p:cNvPr id="2" name="Title 1">
            <a:extLst>
              <a:ext uri="{FF2B5EF4-FFF2-40B4-BE49-F238E27FC236}">
                <a16:creationId xmlns:a16="http://schemas.microsoft.com/office/drawing/2014/main" xmlns="" id="{645F6D88-8C90-4225-A051-DBB066FD5064}"/>
              </a:ext>
            </a:extLst>
          </p:cNvPr>
          <p:cNvSpPr>
            <a:spLocks noGrp="1"/>
          </p:cNvSpPr>
          <p:nvPr>
            <p:ph type="title"/>
          </p:nvPr>
        </p:nvSpPr>
        <p:spPr/>
        <p:txBody>
          <a:bodyPr/>
          <a:lstStyle/>
          <a:p>
            <a:r>
              <a:rPr lang="en-US" dirty="0"/>
              <a:t>Why Kafka?</a:t>
            </a:r>
            <a:endParaRPr lang="en-US" b="1" dirty="0"/>
          </a:p>
        </p:txBody>
      </p:sp>
    </p:spTree>
    <p:extLst>
      <p:ext uri="{BB962C8B-B14F-4D97-AF65-F5344CB8AC3E}">
        <p14:creationId xmlns:p14="http://schemas.microsoft.com/office/powerpoint/2010/main" val="3678185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2"/>
          <p:cNvSpPr>
            <a:spLocks noGrp="1"/>
          </p:cNvSpPr>
          <p:nvPr>
            <p:ph idx="1"/>
          </p:nvPr>
        </p:nvSpPr>
        <p:spPr>
          <a:xfrm>
            <a:off x="1489634" y="1925782"/>
            <a:ext cx="3261680" cy="3777622"/>
          </a:xfrm>
        </p:spPr>
        <p:txBody>
          <a:bodyPr>
            <a:normAutofit fontScale="85000" lnSpcReduction="20000"/>
          </a:bodyPr>
          <a:lstStyle/>
          <a:p>
            <a:pPr marL="457200" indent="-457200">
              <a:buFont typeface="+mj-lt"/>
              <a:buAutoNum type="arabicPeriod"/>
            </a:pPr>
            <a:r>
              <a:rPr lang="en-US" b="1" dirty="0"/>
              <a:t>Producers</a:t>
            </a:r>
            <a:endParaRPr lang="tr-TR" b="1" dirty="0"/>
          </a:p>
          <a:p>
            <a:pPr marL="457200" indent="-457200">
              <a:buFont typeface="+mj-lt"/>
              <a:buAutoNum type="arabicPeriod"/>
            </a:pPr>
            <a:r>
              <a:rPr lang="en-US" b="1" dirty="0"/>
              <a:t>Consumers</a:t>
            </a:r>
            <a:endParaRPr lang="tr-TR" b="1" dirty="0"/>
          </a:p>
          <a:p>
            <a:pPr marL="914400" lvl="1" indent="-457200">
              <a:buFont typeface="Arial" panose="020B0604020202020204" pitchFamily="34" charset="0"/>
              <a:buChar char="•"/>
            </a:pPr>
            <a:r>
              <a:rPr lang="en-US" b="1" dirty="0"/>
              <a:t>Leader</a:t>
            </a:r>
            <a:endParaRPr lang="tr-TR" b="1" dirty="0"/>
          </a:p>
          <a:p>
            <a:pPr marL="914400" lvl="1" indent="-457200">
              <a:buFont typeface="Arial" panose="020B0604020202020204" pitchFamily="34" charset="0"/>
              <a:buChar char="•"/>
            </a:pPr>
            <a:r>
              <a:rPr lang="en-US" b="1" dirty="0"/>
              <a:t>Follower</a:t>
            </a:r>
            <a:endParaRPr lang="tr-TR" b="1" dirty="0"/>
          </a:p>
          <a:p>
            <a:pPr marL="457200" indent="-457200" algn="l">
              <a:buFont typeface="+mj-lt"/>
              <a:buAutoNum type="arabicPeriod"/>
            </a:pPr>
            <a:r>
              <a:rPr lang="en-US" b="1" dirty="0"/>
              <a:t>Topics</a:t>
            </a:r>
            <a:endParaRPr lang="tr-TR" b="1" dirty="0"/>
          </a:p>
          <a:p>
            <a:pPr marL="914400" lvl="1" indent="-457200" algn="l">
              <a:buFont typeface="Arial" panose="020B0604020202020204" pitchFamily="34" charset="0"/>
              <a:buChar char="•"/>
            </a:pPr>
            <a:r>
              <a:rPr lang="en-US" b="1" dirty="0"/>
              <a:t>Partition</a:t>
            </a:r>
            <a:endParaRPr lang="tr-TR" b="1" dirty="0"/>
          </a:p>
          <a:p>
            <a:pPr marL="914400" lvl="1" indent="-457200" algn="l">
              <a:buFont typeface="Arial" panose="020B0604020202020204" pitchFamily="34" charset="0"/>
              <a:buChar char="•"/>
            </a:pPr>
            <a:r>
              <a:rPr lang="en-US" b="1" dirty="0"/>
              <a:t>Partition offset</a:t>
            </a:r>
            <a:endParaRPr lang="tr-TR" b="1" dirty="0"/>
          </a:p>
          <a:p>
            <a:pPr marL="914400" lvl="1" indent="-457200" algn="l">
              <a:buFont typeface="Arial" panose="020B0604020202020204" pitchFamily="34" charset="0"/>
              <a:buChar char="•"/>
            </a:pPr>
            <a:r>
              <a:rPr lang="en-US" b="1" dirty="0"/>
              <a:t>Replicas of partition</a:t>
            </a:r>
            <a:endParaRPr lang="tr-TR" b="1" dirty="0"/>
          </a:p>
          <a:p>
            <a:pPr marL="457200" indent="-457200" algn="l">
              <a:buFont typeface="+mj-lt"/>
              <a:buAutoNum type="arabicPeriod"/>
            </a:pPr>
            <a:r>
              <a:rPr lang="en-US" b="1" dirty="0"/>
              <a:t>Brokers</a:t>
            </a:r>
            <a:endParaRPr lang="tr-TR" b="1" dirty="0"/>
          </a:p>
          <a:p>
            <a:pPr marL="914400" lvl="1" indent="-457200" algn="l">
              <a:buFont typeface="Arial" panose="020B0604020202020204" pitchFamily="34" charset="0"/>
              <a:buChar char="•"/>
            </a:pPr>
            <a:r>
              <a:rPr lang="en-US" b="1" dirty="0"/>
              <a:t>Kafka Cluster</a:t>
            </a:r>
          </a:p>
          <a:p>
            <a:pPr marL="457200" indent="-457200">
              <a:buFont typeface="+mj-lt"/>
              <a:buAutoNum type="arabicPeriod"/>
            </a:pPr>
            <a:r>
              <a:rPr lang="en-GB" b="1" dirty="0"/>
              <a:t>Streams</a:t>
            </a:r>
            <a:endParaRPr lang="tr-TR" b="1" dirty="0"/>
          </a:p>
          <a:p>
            <a:pPr marL="914400" lvl="1" indent="-457200" algn="l">
              <a:buFont typeface="Arial" panose="020B0604020202020204" pitchFamily="34" charset="0"/>
              <a:buChar char="•"/>
            </a:pPr>
            <a:endParaRPr lang="tr-TR" b="1" dirty="0"/>
          </a:p>
          <a:p>
            <a:pPr marL="914400" lvl="1" indent="-457200" algn="l">
              <a:buFont typeface="Arial" panose="020B0604020202020204" pitchFamily="34" charset="0"/>
              <a:buChar char="•"/>
            </a:pPr>
            <a:endParaRPr lang="tr-TR" b="1" dirty="0"/>
          </a:p>
        </p:txBody>
      </p:sp>
      <p:sp>
        <p:nvSpPr>
          <p:cNvPr id="4" name="Title 1"/>
          <p:cNvSpPr>
            <a:spLocks noGrp="1"/>
          </p:cNvSpPr>
          <p:nvPr>
            <p:ph type="title"/>
          </p:nvPr>
        </p:nvSpPr>
        <p:spPr/>
        <p:txBody>
          <a:bodyPr>
            <a:normAutofit/>
          </a:bodyPr>
          <a:lstStyle/>
          <a:p>
            <a:r>
              <a:rPr lang="en-IN" b="1" dirty="0" smtClean="0"/>
              <a:t>Terminologies </a:t>
            </a:r>
            <a:endParaRPr lang="en-US" b="1"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7350" y="1905000"/>
            <a:ext cx="7351131" cy="3777622"/>
          </a:xfrm>
          <a:prstGeom prst="rect">
            <a:avLst/>
          </a:prstGeom>
        </p:spPr>
      </p:pic>
    </p:spTree>
    <p:extLst>
      <p:ext uri="{BB962C8B-B14F-4D97-AF65-F5344CB8AC3E}">
        <p14:creationId xmlns:p14="http://schemas.microsoft.com/office/powerpoint/2010/main" val="4292297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They publish a message to one or more Kafka topics</a:t>
            </a:r>
            <a:r>
              <a:rPr lang="en-US" dirty="0" smtClean="0"/>
              <a:t>.</a:t>
            </a:r>
          </a:p>
          <a:p>
            <a:r>
              <a:rPr lang="en-US" dirty="0"/>
              <a:t>Producers send messages to </a:t>
            </a:r>
            <a:r>
              <a:rPr lang="en-US" dirty="0" smtClean="0"/>
              <a:t>Kafka </a:t>
            </a:r>
            <a:r>
              <a:rPr lang="en-US" dirty="0"/>
              <a:t>brokers</a:t>
            </a:r>
            <a:r>
              <a:rPr lang="en-US" dirty="0" smtClean="0"/>
              <a:t>.</a:t>
            </a:r>
          </a:p>
          <a:p>
            <a:r>
              <a:rPr lang="en-US" dirty="0"/>
              <a:t>Every time the producer publishes a message to the broker, the broker appends the message to the end of the segment file</a:t>
            </a:r>
            <a:r>
              <a:rPr lang="en-US" dirty="0" smtClean="0"/>
              <a:t>.</a:t>
            </a:r>
          </a:p>
          <a:p>
            <a:r>
              <a:rPr lang="en-US" dirty="0"/>
              <a:t>Producer can also send the message to any partition</a:t>
            </a:r>
            <a:r>
              <a:rPr lang="en-US" dirty="0" smtClean="0"/>
              <a:t>.</a:t>
            </a:r>
            <a:endParaRPr lang="tr-TR" dirty="0"/>
          </a:p>
          <a:p>
            <a:r>
              <a:rPr lang="en-US" dirty="0"/>
              <a:t>Consumers read messages from brokers</a:t>
            </a:r>
            <a:r>
              <a:rPr lang="en-US" dirty="0" smtClean="0"/>
              <a:t>.</a:t>
            </a:r>
          </a:p>
          <a:p>
            <a:r>
              <a:rPr lang="en-US" dirty="0"/>
              <a:t>Consumers can subscribe one or more topically.</a:t>
            </a:r>
          </a:p>
        </p:txBody>
      </p:sp>
      <p:sp>
        <p:nvSpPr>
          <p:cNvPr id="2" name="Title 1"/>
          <p:cNvSpPr>
            <a:spLocks noGrp="1"/>
          </p:cNvSpPr>
          <p:nvPr>
            <p:ph type="title"/>
          </p:nvPr>
        </p:nvSpPr>
        <p:spPr/>
        <p:txBody>
          <a:bodyPr/>
          <a:lstStyle/>
          <a:p>
            <a:r>
              <a:rPr lang="en-US" b="1" dirty="0"/>
              <a:t>Producers</a:t>
            </a:r>
            <a:r>
              <a:rPr lang="tr-TR" b="1" dirty="0"/>
              <a:t> ve </a:t>
            </a:r>
            <a:r>
              <a:rPr lang="en-US" b="1" dirty="0"/>
              <a:t>Consumers</a:t>
            </a:r>
            <a:endParaRPr lang="en-US" dirty="0"/>
          </a:p>
        </p:txBody>
      </p:sp>
    </p:spTree>
    <p:extLst>
      <p:ext uri="{BB962C8B-B14F-4D97-AF65-F5344CB8AC3E}">
        <p14:creationId xmlns:p14="http://schemas.microsoft.com/office/powerpoint/2010/main" val="1599230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2025967"/>
            <a:ext cx="9905999" cy="3541714"/>
          </a:xfrm>
        </p:spPr>
        <p:txBody>
          <a:bodyPr>
            <a:normAutofit lnSpcReduction="10000"/>
          </a:bodyPr>
          <a:lstStyle/>
          <a:p>
            <a:r>
              <a:rPr lang="en-US" dirty="0"/>
              <a:t>A message flow belonging to a particular category is called topics. It is stored in data topics</a:t>
            </a:r>
            <a:r>
              <a:rPr lang="en-US" dirty="0" smtClean="0"/>
              <a:t>.</a:t>
            </a:r>
          </a:p>
          <a:p>
            <a:r>
              <a:rPr lang="en-US" dirty="0"/>
              <a:t>Topics are divided into partitions</a:t>
            </a:r>
            <a:r>
              <a:rPr lang="en-US" dirty="0" smtClean="0"/>
              <a:t>.</a:t>
            </a:r>
          </a:p>
          <a:p>
            <a:r>
              <a:rPr lang="en-US" dirty="0"/>
              <a:t>Kafka keeps at least one partition for each topic</a:t>
            </a:r>
            <a:r>
              <a:rPr lang="en-US" dirty="0" smtClean="0"/>
              <a:t>.</a:t>
            </a:r>
          </a:p>
          <a:p>
            <a:r>
              <a:rPr lang="en-US" dirty="0"/>
              <a:t>Each partition keeps messages in a literally ordered sequence</a:t>
            </a:r>
            <a:r>
              <a:rPr lang="en-US" dirty="0" smtClean="0"/>
              <a:t>.</a:t>
            </a:r>
          </a:p>
          <a:p>
            <a:r>
              <a:rPr lang="en-US" dirty="0"/>
              <a:t>Each partition message has a unique </a:t>
            </a:r>
            <a:r>
              <a:rPr lang="en-US" dirty="0" smtClean="0"/>
              <a:t>sequence </a:t>
            </a:r>
            <a:r>
              <a:rPr lang="en-US" dirty="0"/>
              <a:t>id called "offset".</a:t>
            </a:r>
          </a:p>
        </p:txBody>
      </p:sp>
      <p:sp>
        <p:nvSpPr>
          <p:cNvPr id="5" name="Title 4"/>
          <p:cNvSpPr>
            <a:spLocks noGrp="1"/>
          </p:cNvSpPr>
          <p:nvPr>
            <p:ph type="title"/>
          </p:nvPr>
        </p:nvSpPr>
        <p:spPr/>
        <p:txBody>
          <a:bodyPr/>
          <a:lstStyle/>
          <a:p>
            <a:r>
              <a:rPr lang="en-US" b="1" dirty="0"/>
              <a:t>Topics</a:t>
            </a:r>
            <a:endParaRPr lang="en-US" dirty="0"/>
          </a:p>
        </p:txBody>
      </p:sp>
    </p:spTree>
    <p:extLst>
      <p:ext uri="{BB962C8B-B14F-4D97-AF65-F5344CB8AC3E}">
        <p14:creationId xmlns:p14="http://schemas.microsoft.com/office/powerpoint/2010/main" val="581374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3" y="1944687"/>
            <a:ext cx="9905999" cy="3541714"/>
          </a:xfrm>
        </p:spPr>
        <p:txBody>
          <a:bodyPr>
            <a:normAutofit fontScale="92500" lnSpcReduction="10000"/>
          </a:bodyPr>
          <a:lstStyle/>
          <a:p>
            <a:r>
              <a:rPr lang="en-US" dirty="0"/>
              <a:t>It is a simple system responsible for the protection of published data.  </a:t>
            </a:r>
            <a:endParaRPr lang="tr-TR" dirty="0"/>
          </a:p>
          <a:p>
            <a:r>
              <a:rPr lang="en-US" dirty="0"/>
              <a:t>Each broker can contain 0 or more partitions for each topic</a:t>
            </a:r>
            <a:r>
              <a:rPr lang="en-US" dirty="0" smtClean="0"/>
              <a:t>.</a:t>
            </a:r>
          </a:p>
          <a:p>
            <a:r>
              <a:rPr lang="en-US" dirty="0"/>
              <a:t>A broker can read and write hundreds of thousands per second.</a:t>
            </a:r>
            <a:endParaRPr lang="tr-TR" dirty="0"/>
          </a:p>
          <a:p>
            <a:r>
              <a:rPr lang="en-US" dirty="0"/>
              <a:t>We come across 3 scenarios</a:t>
            </a:r>
            <a:r>
              <a:rPr lang="en-US" dirty="0" smtClean="0"/>
              <a:t>.</a:t>
            </a:r>
          </a:p>
          <a:p>
            <a:r>
              <a:rPr lang="tr-TR" dirty="0"/>
              <a:t>N partition - N </a:t>
            </a:r>
            <a:r>
              <a:rPr lang="tr-TR" dirty="0" smtClean="0"/>
              <a:t>broker</a:t>
            </a:r>
            <a:endParaRPr lang="en-IN" dirty="0" smtClean="0"/>
          </a:p>
          <a:p>
            <a:r>
              <a:rPr lang="tr-TR" dirty="0" smtClean="0"/>
              <a:t>N </a:t>
            </a:r>
            <a:r>
              <a:rPr lang="tr-TR" dirty="0"/>
              <a:t>partition - N+M broker</a:t>
            </a:r>
          </a:p>
          <a:p>
            <a:r>
              <a:rPr lang="tr-TR" dirty="0"/>
              <a:t>N partition – N-M broker</a:t>
            </a:r>
          </a:p>
          <a:p>
            <a:endParaRPr lang="en-US" dirty="0"/>
          </a:p>
        </p:txBody>
      </p:sp>
      <p:sp>
        <p:nvSpPr>
          <p:cNvPr id="2" name="Title 1"/>
          <p:cNvSpPr>
            <a:spLocks noGrp="1"/>
          </p:cNvSpPr>
          <p:nvPr>
            <p:ph type="title"/>
          </p:nvPr>
        </p:nvSpPr>
        <p:spPr/>
        <p:txBody>
          <a:bodyPr/>
          <a:lstStyle/>
          <a:p>
            <a:r>
              <a:rPr lang="en-US" b="1" dirty="0"/>
              <a:t>Brokers</a:t>
            </a:r>
            <a:endParaRPr lang="en-US" dirty="0"/>
          </a:p>
        </p:txBody>
      </p:sp>
    </p:spTree>
    <p:extLst>
      <p:ext uri="{BB962C8B-B14F-4D97-AF65-F5344CB8AC3E}">
        <p14:creationId xmlns:p14="http://schemas.microsoft.com/office/powerpoint/2010/main" val="1642566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81453" y="1711036"/>
            <a:ext cx="4343163" cy="3777622"/>
          </a:xfrm>
        </p:spPr>
        <p:txBody>
          <a:bodyPr>
            <a:normAutofit fontScale="85000" lnSpcReduction="10000"/>
          </a:bodyPr>
          <a:lstStyle/>
          <a:p>
            <a:r>
              <a:rPr lang="en-US" dirty="0"/>
              <a:t>Kafka Cluster is that Kafka has more than one broker. The Kafka cluster can be extended without downtime</a:t>
            </a:r>
            <a:r>
              <a:rPr lang="en-US" dirty="0" smtClean="0"/>
              <a:t>.</a:t>
            </a:r>
          </a:p>
          <a:p>
            <a:r>
              <a:rPr lang="en-US" dirty="0"/>
              <a:t>Kafka clusters prefer multi-broker structure to ensure load balance</a:t>
            </a:r>
            <a:r>
              <a:rPr lang="en-US" dirty="0" smtClean="0"/>
              <a:t>.</a:t>
            </a:r>
          </a:p>
          <a:p>
            <a:r>
              <a:rPr lang="en-US" dirty="0"/>
              <a:t>Kafka brokers use </a:t>
            </a:r>
            <a:r>
              <a:rPr lang="en-US" dirty="0" smtClean="0"/>
              <a:t>Zookeeper </a:t>
            </a:r>
            <a:r>
              <a:rPr lang="en-US" dirty="0"/>
              <a:t>because they have a stateless structure.</a:t>
            </a:r>
          </a:p>
        </p:txBody>
      </p:sp>
      <p:sp>
        <p:nvSpPr>
          <p:cNvPr id="4" name="Title 1"/>
          <p:cNvSpPr>
            <a:spLocks noGrp="1"/>
          </p:cNvSpPr>
          <p:nvPr>
            <p:ph type="title"/>
          </p:nvPr>
        </p:nvSpPr>
        <p:spPr>
          <a:xfrm>
            <a:off x="1034236" y="528052"/>
            <a:ext cx="8911687" cy="1280890"/>
          </a:xfrm>
        </p:spPr>
        <p:txBody>
          <a:bodyPr/>
          <a:lstStyle/>
          <a:p>
            <a:r>
              <a:rPr lang="tr-TR" b="1" dirty="0"/>
              <a:t>Kafka Cluster</a:t>
            </a:r>
            <a:endParaRPr lang="en-US" dirty="0"/>
          </a:p>
        </p:txBody>
      </p:sp>
      <p:pic>
        <p:nvPicPr>
          <p:cNvPr id="2050" name="Picture 2" descr="Cluster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293" y="1544782"/>
            <a:ext cx="6890160" cy="3858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2007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2097088"/>
            <a:ext cx="9905999" cy="3541714"/>
          </a:xfrm>
        </p:spPr>
        <p:txBody>
          <a:bodyPr>
            <a:normAutofit lnSpcReduction="10000"/>
          </a:bodyPr>
          <a:lstStyle/>
          <a:p>
            <a:r>
              <a:rPr lang="en-US" dirty="0" smtClean="0"/>
              <a:t>Zookeeper </a:t>
            </a:r>
            <a:r>
              <a:rPr lang="en-US" dirty="0"/>
              <a:t>is used to manage and coordinate the Kafka broker</a:t>
            </a:r>
            <a:r>
              <a:rPr lang="en-US" dirty="0" smtClean="0"/>
              <a:t>.</a:t>
            </a:r>
          </a:p>
          <a:p>
            <a:r>
              <a:rPr lang="en-US" dirty="0"/>
              <a:t>It is mainly used to inform the producer and consumer about the existence of a new broker in the Kafka system or the failure of the Broker in the Kafka system</a:t>
            </a:r>
            <a:r>
              <a:rPr lang="en-US" dirty="0" smtClean="0"/>
              <a:t>.</a:t>
            </a:r>
          </a:p>
          <a:p>
            <a:r>
              <a:rPr lang="en-US" dirty="0"/>
              <a:t>According to the notification received by Zookeeper about the existence or failure of the broker, the producer and the consumer make a decision and continue their duties with another broker.</a:t>
            </a:r>
          </a:p>
        </p:txBody>
      </p:sp>
      <p:sp>
        <p:nvSpPr>
          <p:cNvPr id="2" name="Title 1"/>
          <p:cNvSpPr>
            <a:spLocks noGrp="1"/>
          </p:cNvSpPr>
          <p:nvPr>
            <p:ph type="title"/>
          </p:nvPr>
        </p:nvSpPr>
        <p:spPr/>
        <p:txBody>
          <a:bodyPr/>
          <a:lstStyle/>
          <a:p>
            <a:r>
              <a:rPr lang="en-US" b="1" dirty="0" smtClean="0"/>
              <a:t>Zookeeper</a:t>
            </a:r>
            <a:endParaRPr lang="en-US" dirty="0"/>
          </a:p>
        </p:txBody>
      </p:sp>
    </p:spTree>
    <p:extLst>
      <p:ext uri="{BB962C8B-B14F-4D97-AF65-F5344CB8AC3E}">
        <p14:creationId xmlns:p14="http://schemas.microsoft.com/office/powerpoint/2010/main" val="4157118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67054" y="290945"/>
            <a:ext cx="4937557" cy="6428510"/>
          </a:xfrm>
        </p:spPr>
        <p:txBody>
          <a:bodyPr>
            <a:normAutofit fontScale="85000" lnSpcReduction="10000"/>
          </a:bodyPr>
          <a:lstStyle/>
          <a:p>
            <a:r>
              <a:rPr lang="en-US" dirty="0"/>
              <a:t>The topic in the diagram is structured with 3 partitions</a:t>
            </a:r>
            <a:r>
              <a:rPr lang="en-US" dirty="0" smtClean="0"/>
              <a:t>.</a:t>
            </a:r>
          </a:p>
          <a:p>
            <a:r>
              <a:rPr lang="en-US" dirty="0" smtClean="0"/>
              <a:t>Partition </a:t>
            </a:r>
            <a:r>
              <a:rPr lang="en-US" dirty="0"/>
              <a:t>1 has 2 offsets. These are 0 and 1</a:t>
            </a:r>
            <a:r>
              <a:rPr lang="en-US" dirty="0" smtClean="0"/>
              <a:t>.</a:t>
            </a:r>
          </a:p>
          <a:p>
            <a:r>
              <a:rPr lang="en-US" dirty="0"/>
              <a:t>Replicas' id is the same as the server hosting it</a:t>
            </a:r>
            <a:r>
              <a:rPr lang="en-US" dirty="0" smtClean="0"/>
              <a:t>.</a:t>
            </a:r>
          </a:p>
          <a:p>
            <a:r>
              <a:rPr lang="en-US" dirty="0"/>
              <a:t>Suppose the replication factors in the topic are set to 3. In this case, Kafka will create 3 replicas for each partition and distribute them evenly across the cluster</a:t>
            </a:r>
            <a:r>
              <a:rPr lang="en-US" dirty="0" smtClean="0"/>
              <a:t>.</a:t>
            </a:r>
          </a:p>
          <a:p>
            <a:r>
              <a:rPr lang="en-US" dirty="0"/>
              <a:t>To balance the load on the cluster, each broker can store 1 or </a:t>
            </a:r>
            <a:r>
              <a:rPr lang="en-US" dirty="0" smtClean="0"/>
              <a:t>multiple.</a:t>
            </a:r>
          </a:p>
          <a:p>
            <a:r>
              <a:rPr lang="en-US" dirty="0"/>
              <a:t>Multiple producer can send messages and more than one consumer can read messages</a:t>
            </a:r>
            <a:r>
              <a:rPr lang="tr-TR" dirty="0" smtClean="0"/>
              <a:t>. </a:t>
            </a:r>
            <a:endParaRPr lang="en-US" dirty="0"/>
          </a:p>
        </p:txBody>
      </p:sp>
      <p:pic>
        <p:nvPicPr>
          <p:cNvPr id="1026" name="Picture 2" descr="Fundamenta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914" y="1610340"/>
            <a:ext cx="6262140" cy="31623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6042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05948" y="1481138"/>
            <a:ext cx="6580104" cy="4525962"/>
          </a:xfrm>
          <a:prstGeom prst="rect">
            <a:avLst/>
          </a:prstGeom>
        </p:spPr>
      </p:pic>
      <p:sp>
        <p:nvSpPr>
          <p:cNvPr id="2" name="Title 1"/>
          <p:cNvSpPr>
            <a:spLocks noGrp="1"/>
          </p:cNvSpPr>
          <p:nvPr>
            <p:ph type="title"/>
          </p:nvPr>
        </p:nvSpPr>
        <p:spPr>
          <a:xfrm>
            <a:off x="1039189" y="563150"/>
            <a:ext cx="8911687" cy="1280890"/>
          </a:xfrm>
        </p:spPr>
        <p:txBody>
          <a:bodyPr/>
          <a:lstStyle/>
          <a:p>
            <a:r>
              <a:rPr lang="tr-TR" b="1" dirty="0"/>
              <a:t>Kafka Streams</a:t>
            </a:r>
            <a:endParaRPr lang="en-US" b="1" dirty="0"/>
          </a:p>
        </p:txBody>
      </p:sp>
      <p:sp>
        <p:nvSpPr>
          <p:cNvPr id="5" name="Rectangle 4"/>
          <p:cNvSpPr/>
          <p:nvPr/>
        </p:nvSpPr>
        <p:spPr>
          <a:xfrm>
            <a:off x="1039189" y="1931897"/>
            <a:ext cx="3418650" cy="3416320"/>
          </a:xfrm>
          <a:prstGeom prst="rect">
            <a:avLst/>
          </a:prstGeom>
        </p:spPr>
        <p:txBody>
          <a:bodyPr wrap="square">
            <a:spAutoFit/>
          </a:bodyPr>
          <a:lstStyle/>
          <a:p>
            <a:r>
              <a:rPr lang="en-US" dirty="0"/>
              <a:t>Built on Kafka Streams, Kafka producer and consumer APIs</a:t>
            </a:r>
            <a:r>
              <a:rPr lang="en-US" dirty="0" smtClean="0"/>
              <a:t>,</a:t>
            </a:r>
          </a:p>
          <a:p>
            <a:endParaRPr lang="tr-TR" dirty="0"/>
          </a:p>
          <a:p>
            <a:pPr marL="285750" indent="-285750">
              <a:buFont typeface="Arial" panose="020B0604020202020204" pitchFamily="34" charset="0"/>
              <a:buChar char="•"/>
            </a:pPr>
            <a:r>
              <a:rPr lang="tr-TR" dirty="0"/>
              <a:t>data parallelsim</a:t>
            </a:r>
            <a:r>
              <a:rPr lang="tr-TR" dirty="0" smtClean="0"/>
              <a:t>,</a:t>
            </a:r>
            <a:endParaRPr lang="en-IN" dirty="0" smtClean="0"/>
          </a:p>
          <a:p>
            <a:pPr marL="285750" indent="-285750">
              <a:buFont typeface="Arial" panose="020B0604020202020204" pitchFamily="34" charset="0"/>
              <a:buChar char="•"/>
            </a:pPr>
            <a:r>
              <a:rPr lang="tr-TR" dirty="0"/>
              <a:t>distributed coordination</a:t>
            </a:r>
            <a:r>
              <a:rPr lang="tr-TR" dirty="0" smtClean="0"/>
              <a:t>,</a:t>
            </a:r>
            <a:endParaRPr lang="en-IN" dirty="0" smtClean="0"/>
          </a:p>
          <a:p>
            <a:pPr marL="285750" indent="-285750">
              <a:buFont typeface="Arial" panose="020B0604020202020204" pitchFamily="34" charset="0"/>
              <a:buChar char="•"/>
            </a:pPr>
            <a:r>
              <a:rPr lang="tr-TR" dirty="0"/>
              <a:t>fault </a:t>
            </a:r>
            <a:r>
              <a:rPr lang="tr-TR" dirty="0" smtClean="0"/>
              <a:t>tolerance</a:t>
            </a:r>
            <a:endParaRPr lang="en-IN" dirty="0" smtClean="0"/>
          </a:p>
          <a:p>
            <a:pPr marL="285750" indent="-285750">
              <a:buFont typeface="Arial" panose="020B0604020202020204" pitchFamily="34" charset="0"/>
              <a:buChar char="•"/>
            </a:pPr>
            <a:r>
              <a:rPr lang="tr-TR" dirty="0"/>
              <a:t>operational </a:t>
            </a:r>
            <a:r>
              <a:rPr lang="tr-TR" dirty="0" smtClean="0"/>
              <a:t>simplicity</a:t>
            </a:r>
            <a:endParaRPr lang="en-IN" dirty="0" smtClean="0"/>
          </a:p>
          <a:p>
            <a:pPr marL="285750" indent="-285750">
              <a:buFont typeface="Arial" panose="020B0604020202020204" pitchFamily="34" charset="0"/>
              <a:buChar char="•"/>
            </a:pPr>
            <a:endParaRPr lang="tr-TR" dirty="0"/>
          </a:p>
          <a:p>
            <a:r>
              <a:rPr lang="en-US" dirty="0"/>
              <a:t>It aims to develop applications within the framework of its objectives.</a:t>
            </a:r>
            <a:endParaRPr lang="tr-TR" dirty="0"/>
          </a:p>
        </p:txBody>
      </p:sp>
    </p:spTree>
    <p:extLst>
      <p:ext uri="{BB962C8B-B14F-4D97-AF65-F5344CB8AC3E}">
        <p14:creationId xmlns:p14="http://schemas.microsoft.com/office/powerpoint/2010/main" val="2737258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33313" y="2133600"/>
            <a:ext cx="4271299" cy="3777622"/>
          </a:xfrm>
        </p:spPr>
        <p:txBody>
          <a:bodyPr>
            <a:normAutofit/>
          </a:bodyPr>
          <a:lstStyle/>
          <a:p>
            <a:pPr marL="285750" indent="-285750">
              <a:buFont typeface="Arial" panose="020B0604020202020204" pitchFamily="34" charset="0"/>
              <a:buChar char="•"/>
            </a:pPr>
            <a:r>
              <a:rPr lang="en-US" dirty="0"/>
              <a:t>Processor Topology</a:t>
            </a:r>
            <a:endParaRPr lang="tr-TR" dirty="0"/>
          </a:p>
          <a:p>
            <a:pPr marL="285750" indent="-285750">
              <a:buFont typeface="Arial" panose="020B0604020202020204" pitchFamily="34" charset="0"/>
              <a:buChar char="•"/>
            </a:pPr>
            <a:r>
              <a:rPr lang="en-US" dirty="0"/>
              <a:t>Parallelism Model</a:t>
            </a:r>
          </a:p>
          <a:p>
            <a:pPr marL="285750" indent="-285750">
              <a:buFont typeface="Arial" panose="020B0604020202020204" pitchFamily="34" charset="0"/>
              <a:buChar char="•"/>
            </a:pPr>
            <a:r>
              <a:rPr lang="en-US" dirty="0"/>
              <a:t>Threading Model</a:t>
            </a:r>
            <a:endParaRPr lang="tr-TR" dirty="0"/>
          </a:p>
          <a:p>
            <a:pPr marL="285750" indent="-285750">
              <a:buFont typeface="Arial" panose="020B0604020202020204" pitchFamily="34" charset="0"/>
              <a:buChar char="•"/>
            </a:pPr>
            <a:r>
              <a:rPr lang="en-US" dirty="0"/>
              <a:t>State</a:t>
            </a:r>
          </a:p>
          <a:p>
            <a:pPr marL="285750" indent="-285750">
              <a:buFont typeface="Arial" panose="020B0604020202020204" pitchFamily="34" charset="0"/>
              <a:buChar char="•"/>
            </a:pPr>
            <a:r>
              <a:rPr lang="en-US" dirty="0"/>
              <a:t>Memory management</a:t>
            </a:r>
          </a:p>
          <a:p>
            <a:pPr marL="285750" indent="-285750">
              <a:buFont typeface="Arial" panose="020B0604020202020204" pitchFamily="34" charset="0"/>
              <a:buChar char="•"/>
            </a:pPr>
            <a:r>
              <a:rPr lang="en-US" dirty="0"/>
              <a:t>Fault Tolerance</a:t>
            </a:r>
          </a:p>
          <a:p>
            <a:endParaRPr lang="en-US" dirty="0"/>
          </a:p>
        </p:txBody>
      </p:sp>
      <p:sp>
        <p:nvSpPr>
          <p:cNvPr id="2" name="Title 1"/>
          <p:cNvSpPr>
            <a:spLocks noGrp="1"/>
          </p:cNvSpPr>
          <p:nvPr>
            <p:ph type="title"/>
          </p:nvPr>
        </p:nvSpPr>
        <p:spPr>
          <a:xfrm>
            <a:off x="1752600" y="455958"/>
            <a:ext cx="9905998" cy="1478570"/>
          </a:xfrm>
        </p:spPr>
        <p:txBody>
          <a:bodyPr>
            <a:normAutofit/>
          </a:bodyPr>
          <a:lstStyle/>
          <a:p>
            <a:r>
              <a:rPr lang="en-US" b="1" dirty="0"/>
              <a:t>Streams Architecture</a:t>
            </a:r>
            <a:br>
              <a:rPr lang="en-US" b="1" dirty="0"/>
            </a:br>
            <a:endParaRPr lang="en-US" dirty="0"/>
          </a:p>
        </p:txBody>
      </p:sp>
      <p:pic>
        <p:nvPicPr>
          <p:cNvPr id="6"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8686" y="1544653"/>
            <a:ext cx="5395069" cy="4403203"/>
          </a:xfrm>
          <a:prstGeom prst="rect">
            <a:avLst/>
          </a:prstGeom>
        </p:spPr>
      </p:pic>
    </p:spTree>
    <p:extLst>
      <p:ext uri="{BB962C8B-B14F-4D97-AF65-F5344CB8AC3E}">
        <p14:creationId xmlns:p14="http://schemas.microsoft.com/office/powerpoint/2010/main" val="1162396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08979" y="441272"/>
            <a:ext cx="6195633" cy="6233532"/>
          </a:xfrm>
        </p:spPr>
        <p:txBody>
          <a:bodyPr>
            <a:noAutofit/>
          </a:bodyPr>
          <a:lstStyle/>
          <a:p>
            <a:r>
              <a:rPr lang="en-US" sz="1800" dirty="0">
                <a:latin typeface="Times New Roman" pitchFamily="18" charset="0"/>
                <a:cs typeface="Times New Roman" pitchFamily="18" charset="0"/>
              </a:rPr>
              <a:t>Let's consider a </a:t>
            </a:r>
            <a:r>
              <a:rPr lang="en-US" sz="1800" dirty="0" smtClean="0">
                <a:latin typeface="Times New Roman" pitchFamily="18" charset="0"/>
                <a:cs typeface="Times New Roman" pitchFamily="18" charset="0"/>
              </a:rPr>
              <a:t>Kafka </a:t>
            </a:r>
            <a:r>
              <a:rPr lang="en-US" sz="1800" dirty="0">
                <a:latin typeface="Times New Roman" pitchFamily="18" charset="0"/>
                <a:cs typeface="Times New Roman" pitchFamily="18" charset="0"/>
              </a:rPr>
              <a:t>Stream structured as 2 topics named A and B, each consisting of 3 partitions</a:t>
            </a:r>
            <a:r>
              <a:rPr lang="en-US" sz="1800" dirty="0" smtClean="0">
                <a:latin typeface="Times New Roman" pitchFamily="18" charset="0"/>
                <a:cs typeface="Times New Roman" pitchFamily="18" charset="0"/>
              </a:rPr>
              <a:t>.</a:t>
            </a:r>
          </a:p>
          <a:p>
            <a:pPr marL="109728" indent="0">
              <a:buNone/>
            </a:pPr>
            <a:endParaRPr lang="tr-TR"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If we consider that we are running our application with 2 threads on one machine. We access 2 stream threads, they are instance1-thread1 and instance2-thread2</a:t>
            </a:r>
            <a:r>
              <a:rPr lang="en-US" sz="1800" dirty="0" smtClean="0">
                <a:latin typeface="Times New Roman" pitchFamily="18" charset="0"/>
                <a:cs typeface="Times New Roman" pitchFamily="18" charset="0"/>
              </a:rPr>
              <a:t>.</a:t>
            </a:r>
          </a:p>
          <a:p>
            <a:pPr marL="109728" indent="0">
              <a:buNone/>
            </a:pPr>
            <a:endParaRPr lang="tr-TR"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Kafka Streams divides this topology into 3 tasks by default because the maximum number of partitions is 3 and 6 input topic partitions are distributed equally to these 3 tasks. In this case, each task processes one partition of each topic. And there are 2 input partitions for each task</a:t>
            </a:r>
            <a:r>
              <a:rPr lang="en-US" sz="1800" dirty="0" smtClean="0">
                <a:latin typeface="Times New Roman" pitchFamily="18" charset="0"/>
                <a:cs typeface="Times New Roman" pitchFamily="18" charset="0"/>
              </a:rPr>
              <a:t>.</a:t>
            </a:r>
          </a:p>
          <a:p>
            <a:pPr marL="109728" indent="0">
              <a:buNone/>
            </a:pPr>
            <a:endParaRPr lang="tr-TR"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Finally, these 3 tasks will be distributed as evenly as possible</a:t>
            </a:r>
            <a:r>
              <a:rPr lang="en-US" sz="1800" dirty="0" smtClean="0">
                <a:latin typeface="Times New Roman" pitchFamily="18" charset="0"/>
                <a:cs typeface="Times New Roman" pitchFamily="18" charset="0"/>
              </a:rPr>
              <a:t>.</a:t>
            </a:r>
          </a:p>
          <a:p>
            <a:endParaRPr lang="en-US" sz="1800" dirty="0" smtClean="0">
              <a:latin typeface="Times New Roman" pitchFamily="18" charset="0"/>
              <a:cs typeface="Times New Roman" pitchFamily="18" charset="0"/>
            </a:endParaRPr>
          </a:p>
          <a:p>
            <a:r>
              <a:rPr lang="en-US" sz="1800" dirty="0">
                <a:latin typeface="Times New Roman" pitchFamily="18" charset="0"/>
                <a:cs typeface="Times New Roman" pitchFamily="18" charset="0"/>
              </a:rPr>
              <a:t>In this example, the first thread will run 2 tasks using 4 partitions, while thread 2 will run 1 task using 2 partitions.</a:t>
            </a:r>
          </a:p>
        </p:txBody>
      </p:sp>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219" y="441272"/>
            <a:ext cx="4380930" cy="5481856"/>
          </a:xfrm>
          <a:prstGeom prst="rect">
            <a:avLst/>
          </a:prstGeom>
        </p:spPr>
      </p:pic>
    </p:spTree>
    <p:extLst>
      <p:ext uri="{BB962C8B-B14F-4D97-AF65-F5344CB8AC3E}">
        <p14:creationId xmlns:p14="http://schemas.microsoft.com/office/powerpoint/2010/main" val="2354642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70593" y="568712"/>
            <a:ext cx="4234018" cy="5865542"/>
          </a:xfrm>
        </p:spPr>
        <p:txBody>
          <a:bodyPr>
            <a:noAutofit/>
          </a:bodyPr>
          <a:lstStyle/>
          <a:p>
            <a:r>
              <a:rPr lang="en-US" sz="1800" dirty="0">
                <a:latin typeface="Times New Roman" pitchFamily="18" charset="0"/>
                <a:cs typeface="Times New Roman" pitchFamily="18" charset="0"/>
              </a:rPr>
              <a:t>Now suppose we want to develop this example. Let's assume that the data size has increased significantly</a:t>
            </a:r>
            <a:r>
              <a:rPr lang="en-US" sz="1800" dirty="0" smtClean="0">
                <a:latin typeface="Times New Roman" pitchFamily="18" charset="0"/>
                <a:cs typeface="Times New Roman" pitchFamily="18" charset="0"/>
              </a:rPr>
              <a:t>.</a:t>
            </a:r>
          </a:p>
          <a:p>
            <a:pPr marL="109728" indent="0">
              <a:buNone/>
            </a:pPr>
            <a:endParaRPr lang="en-US" sz="1800" dirty="0" smtClean="0">
              <a:latin typeface="Times New Roman" pitchFamily="18" charset="0"/>
              <a:cs typeface="Times New Roman" pitchFamily="18" charset="0"/>
            </a:endParaRPr>
          </a:p>
          <a:p>
            <a:r>
              <a:rPr lang="en-US" sz="1800" dirty="0">
                <a:latin typeface="Times New Roman" pitchFamily="18" charset="0"/>
                <a:cs typeface="Times New Roman" pitchFamily="18" charset="0"/>
              </a:rPr>
              <a:t>Let's run the same application on 2 machines. We have 2 threads on the first machine and we have 1 thread on the second machine. On the 2nd machine, instance2-thread1 will be created and the input partitions will be distributed immediately as shown</a:t>
            </a:r>
            <a:r>
              <a:rPr lang="en-US" sz="1800" dirty="0" smtClean="0">
                <a:latin typeface="Times New Roman" pitchFamily="18" charset="0"/>
                <a:cs typeface="Times New Roman" pitchFamily="18" charset="0"/>
              </a:rPr>
              <a:t>.</a:t>
            </a:r>
          </a:p>
          <a:p>
            <a:pPr marL="109728" indent="0">
              <a:buNone/>
            </a:pPr>
            <a:endParaRPr lang="en-US" sz="1800" dirty="0" smtClean="0">
              <a:latin typeface="Times New Roman" pitchFamily="18" charset="0"/>
              <a:cs typeface="Times New Roman" pitchFamily="18" charset="0"/>
            </a:endParaRPr>
          </a:p>
          <a:p>
            <a:r>
              <a:rPr lang="en-US" sz="1800" dirty="0">
                <a:latin typeface="Times New Roman" pitchFamily="18" charset="0"/>
                <a:cs typeface="Times New Roman" pitchFamily="18" charset="0"/>
              </a:rPr>
              <a:t> When re-assignment occurs, some partitions processed in previous threads will be «migrated» to the new machine</a:t>
            </a:r>
            <a:r>
              <a:rPr lang="en-US" sz="1800" dirty="0" smtClean="0">
                <a:latin typeface="Times New Roman" pitchFamily="18" charset="0"/>
                <a:cs typeface="Times New Roman" pitchFamily="18" charset="0"/>
              </a:rPr>
              <a:t>.</a:t>
            </a:r>
          </a:p>
          <a:p>
            <a:pPr marL="109728" indent="0">
              <a:buNone/>
            </a:pPr>
            <a:endParaRPr lang="en-US" sz="1800" dirty="0" smtClean="0">
              <a:latin typeface="Times New Roman" pitchFamily="18" charset="0"/>
              <a:cs typeface="Times New Roman" pitchFamily="18" charset="0"/>
            </a:endParaRPr>
          </a:p>
          <a:p>
            <a:r>
              <a:rPr lang="en-US" sz="1800" dirty="0">
                <a:latin typeface="Times New Roman" pitchFamily="18" charset="0"/>
                <a:cs typeface="Times New Roman" pitchFamily="18" charset="0"/>
              </a:rPr>
              <a:t>As a result, Kafka streams will be distributed evenly among application instances according to the workload of Kafka topic partitions.</a:t>
            </a:r>
          </a:p>
        </p:txBody>
      </p:sp>
      <p:pic>
        <p:nvPicPr>
          <p:cNvPr id="4" name="Picture 2" descr="https://docs.confluent.io/current/_images/streams-architecture-example-0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6633" y="568712"/>
            <a:ext cx="6043960" cy="5669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3392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9DE38E1-E36B-6C47-BD60-46CF3519C80D}"/>
              </a:ext>
            </a:extLst>
          </p:cNvPr>
          <p:cNvSpPr>
            <a:spLocks noGrp="1"/>
          </p:cNvSpPr>
          <p:nvPr>
            <p:ph idx="1"/>
          </p:nvPr>
        </p:nvSpPr>
        <p:spPr>
          <a:xfrm>
            <a:off x="2059709" y="2249487"/>
            <a:ext cx="8987702" cy="3541714"/>
          </a:xfrm>
        </p:spPr>
        <p:txBody>
          <a:bodyPr>
            <a:normAutofit/>
          </a:bodyPr>
          <a:lstStyle/>
          <a:p>
            <a:pPr marL="109728" indent="0">
              <a:buNone/>
            </a:pPr>
            <a:r>
              <a:rPr lang="en-IN" sz="2000" dirty="0" smtClean="0"/>
              <a:t>Dileep Yadav  [ SAKOSFT LIMITED ]</a:t>
            </a:r>
            <a:endParaRPr lang="tr-TR" sz="2000" dirty="0"/>
          </a:p>
        </p:txBody>
      </p:sp>
      <p:sp>
        <p:nvSpPr>
          <p:cNvPr id="2" name="Title 1">
            <a:extLst>
              <a:ext uri="{FF2B5EF4-FFF2-40B4-BE49-F238E27FC236}">
                <a16:creationId xmlns:a16="http://schemas.microsoft.com/office/drawing/2014/main" xmlns="" id="{E29782B2-ADC7-414B-B72F-10DFD4FADFD7}"/>
              </a:ext>
            </a:extLst>
          </p:cNvPr>
          <p:cNvSpPr>
            <a:spLocks noGrp="1"/>
          </p:cNvSpPr>
          <p:nvPr>
            <p:ph type="title"/>
          </p:nvPr>
        </p:nvSpPr>
        <p:spPr/>
        <p:txBody>
          <a:bodyPr/>
          <a:lstStyle/>
          <a:p>
            <a:r>
              <a:rPr lang="tr-TR" b="1" dirty="0"/>
              <a:t>	</a:t>
            </a:r>
            <a:r>
              <a:rPr lang="tr-TR" dirty="0"/>
              <a:t> Prepared by</a:t>
            </a:r>
            <a:endParaRPr lang="tr-TR" b="1" dirty="0"/>
          </a:p>
        </p:txBody>
      </p:sp>
    </p:spTree>
    <p:extLst>
      <p:ext uri="{BB962C8B-B14F-4D97-AF65-F5344CB8AC3E}">
        <p14:creationId xmlns:p14="http://schemas.microsoft.com/office/powerpoint/2010/main" val="17273764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5182</TotalTime>
  <Words>1415</Words>
  <Application>Microsoft Office PowerPoint</Application>
  <PresentationFormat>Custom</PresentationFormat>
  <Paragraphs>171</Paragraphs>
  <Slides>28</Slides>
  <Notes>3</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Concourse</vt:lpstr>
      <vt:lpstr>PowerPoint Presentation</vt:lpstr>
      <vt:lpstr>Apache Kafka </vt:lpstr>
      <vt:lpstr>Apache kafka API</vt:lpstr>
      <vt:lpstr>Use</vt:lpstr>
      <vt:lpstr>Who uses Apache Kafka?</vt:lpstr>
      <vt:lpstr>Motivation</vt:lpstr>
      <vt:lpstr>“Build applications, not infrastructure!”</vt:lpstr>
      <vt:lpstr>Why Kafka?</vt:lpstr>
      <vt:lpstr>Why Kafka?</vt:lpstr>
      <vt:lpstr>Why Kafka?</vt:lpstr>
      <vt:lpstr>Why Kafka?</vt:lpstr>
      <vt:lpstr>Why Kafka?</vt:lpstr>
      <vt:lpstr>Why Kafka?</vt:lpstr>
      <vt:lpstr>Why Kafka?</vt:lpstr>
      <vt:lpstr>Why Kafka?</vt:lpstr>
      <vt:lpstr>Why Kafka?</vt:lpstr>
      <vt:lpstr>Terminologies </vt:lpstr>
      <vt:lpstr>Producers ve Consumers</vt:lpstr>
      <vt:lpstr>Topics</vt:lpstr>
      <vt:lpstr>Brokers</vt:lpstr>
      <vt:lpstr>Kafka Cluster</vt:lpstr>
      <vt:lpstr>Zookeeper</vt:lpstr>
      <vt:lpstr>PowerPoint Presentation</vt:lpstr>
      <vt:lpstr>Kafka Streams</vt:lpstr>
      <vt:lpstr>Streams Architecture </vt:lpstr>
      <vt:lpstr>PowerPoint Presentation</vt:lpstr>
      <vt:lpstr>PowerPoint Presentation</vt:lpstr>
      <vt:lpstr>  Prepared by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Kafka Streams API</dc:title>
  <dc:creator>Ja Lo</dc:creator>
  <cp:lastModifiedBy>Dileep Yadav</cp:lastModifiedBy>
  <cp:revision>68</cp:revision>
  <dcterms:created xsi:type="dcterms:W3CDTF">2018-12-22T19:50:26Z</dcterms:created>
  <dcterms:modified xsi:type="dcterms:W3CDTF">2021-02-17T07:34:16Z</dcterms:modified>
</cp:coreProperties>
</file>